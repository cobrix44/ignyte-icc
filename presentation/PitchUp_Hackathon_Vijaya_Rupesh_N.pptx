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PitchUp is a women-first cricket development prototype. Our starting hypothesis is that grassroots women cricketers need a simple way to carry their practice history between sessions, make it useful to a coach, and choose which milestones others see. These are design hypotheses, not findings from completed user interviews. The current scope is batting, bowling and fielding. Presenter: Vijaya Rupesh N. Primary fit: Athlete Health, Performance &amp; Inclusivity, through access and performance records; secondary fit: Sport Visibility &amp; Engagement. We make no injury-prevention or performance-improvement claims. Official challenge: https://challenges.ignyte.ae/competition/1B9DF5DB-F9A0-F011-B3CD-002248CB5C1B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current prototype: record a batting, bowling or fielding session. Batting and bowling capture deliveries; fielding captures duration and notes. See the history and a factual weekly summary. Session notes stay outside the milestone shown in this demonstration, and coach access and the milestone audience are separate choices. The screenshot uses a fictional athlete and records. Our intended differentiation is the combination of cricket-specific training records and athlete-controlled visibility, not simply adding cricket to a generic tracker. Strava already supports cricket. Women-first means designing and testing around women athletes' control, access and visibility; it does not mean unsupported biological assumptions. The current demo simulates roles and audience behavior; production identity, authorization and storage remain planned. Competitor reference: https://press.strava.com/en-gb/articles/strava-adds-five-new-sports-to-enable-more-comprehensive-activity-tracking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deployed app demonstrates the core journey with browser storage fallback; the local prototype also includes a Node API and domain rules. Today, explanations are deterministic comparisons against self-reported records and the user's own plan. There is no integrated machine-learning model. A future grounded language model could turn validated records into a plain-language summary or draft milestone, but an athlete must review content before sharing. The production gate is secure authentication, verified coach membership, server-enforced access, durable storage and consent testing. Simulated demo role switching is not production security. Data export and deletion are demonstrated locally. We do not claim medical readiness or injury prediction, nor access to proprietary ICC data. Cross-sport scale would reuse the consent and community layer while adapting and validating sport-specific activity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first validation is four weeks with twenty consenting adult women cricketers, recruited directly where possible. No participants or clubs are currently confirmed, and these numbers are a proposed plan, not traction. Before recruiting, complete the production trust work or use moderated usability sessions with fictional data. Measure time to log, weekly return, comprehension of sharing controls and perceived usefulness; use interviews to decide whether coach access solves a real need. Later, willing coaches can test the review workflow. We propose keeping basic player access free and testing paid tools for clubs and academies; no pricing or revenue has been validated. Mobile web and no required wearable reduce hardware barriers. The current Hindi feature is a short summary, not a fully translated app. Text-first records avoid routine video processing, but no environmental savings have been measured. A future ICC pathway could offer opt-in athlete milestones around community programmes or events, with permission and moderation. Our ask is introductions and feedback, not a claim of an ICC partnership. Live prototype: https://ignyte-icc.vercel.app/ . A separate demo video of at most three minutes is still needed for the prototype submission. Official requirements checked against the public competition data on 4 October 2026. Team eligibility and contribution declarations must reflect actual contributors.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ignyte-icc.vercel.app/"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93D2D"/>
          </a:solidFill>
          <a:ln w="12700">
            <a:solidFill>
              <a:srgbClr val="193D2D">
                <a:alpha val="0"/>
              </a:srgbClr>
            </a:solidFill>
            <a:prstDash val="solid"/>
          </a:ln>
        </p:spPr>
      </p:sp>
      <p:sp>
        <p:nvSpPr>
          <p:cNvPr id="3" name="Text 1"/>
          <p:cNvSpPr/>
          <p:nvPr/>
        </p:nvSpPr>
        <p:spPr>
          <a:xfrm>
            <a:off x="548640" y="335280"/>
            <a:ext cx="2286000" cy="304800"/>
          </a:xfrm>
          <a:prstGeom prst="rect">
            <a:avLst/>
          </a:prstGeom>
          <a:noFill/>
          <a:ln/>
        </p:spPr>
        <p:txBody>
          <a:bodyPr wrap="square" lIns="0" tIns="0" rIns="0" bIns="0" rtlCol="0" anchor="t"/>
          <a:lstStyle/>
          <a:p>
            <a:pPr indent="0" marL="0">
              <a:lnSpc>
                <a:spcPct val="108000"/>
              </a:lnSpc>
              <a:buNone/>
            </a:pPr>
            <a:r>
              <a:rPr lang="en-US" sz="1680" b="1" dirty="0">
                <a:solidFill>
                  <a:srgbClr val="D8EF86"/>
                </a:solidFill>
                <a:latin typeface="Arial" pitchFamily="34" charset="0"/>
                <a:ea typeface="Arial" pitchFamily="34" charset="-122"/>
                <a:cs typeface="Arial" pitchFamily="34" charset="-120"/>
              </a:rPr>
              <a:t>PITCHUP</a:t>
            </a:r>
            <a:endParaRPr lang="en-US" sz="1680" dirty="0"/>
          </a:p>
        </p:txBody>
      </p:sp>
      <p:sp>
        <p:nvSpPr>
          <p:cNvPr id="4" name="Text 2"/>
          <p:cNvSpPr/>
          <p:nvPr/>
        </p:nvSpPr>
        <p:spPr>
          <a:xfrm>
            <a:off x="6096000" y="373380"/>
            <a:ext cx="5524500" cy="266700"/>
          </a:xfrm>
          <a:prstGeom prst="rect">
            <a:avLst/>
          </a:prstGeom>
          <a:noFill/>
          <a:ln/>
        </p:spPr>
        <p:txBody>
          <a:bodyPr wrap="square" lIns="0" tIns="0" rIns="0" bIns="0" rtlCol="0" anchor="t"/>
          <a:lstStyle/>
          <a:p>
            <a:pPr indent="0" marL="0">
              <a:lnSpc>
                <a:spcPct val="108000"/>
              </a:lnSpc>
              <a:buNone/>
            </a:pPr>
            <a:r>
              <a:rPr lang="en-US" sz="1200" dirty="0">
                <a:solidFill>
                  <a:srgbClr val="F7F8F3"/>
                </a:solidFill>
                <a:latin typeface="Arial" pitchFamily="34" charset="0"/>
                <a:ea typeface="Arial" pitchFamily="34" charset="-122"/>
                <a:cs typeface="Arial" pitchFamily="34" charset="-120"/>
              </a:rPr>
              <a:t>WOMEN-FIRST CRICKET DEVELOPMENT</a:t>
            </a:r>
            <a:endParaRPr lang="en-US" sz="1200" dirty="0"/>
          </a:p>
        </p:txBody>
      </p:sp>
      <p:sp>
        <p:nvSpPr>
          <p:cNvPr id="5" name="Shape 3"/>
          <p:cNvSpPr/>
          <p:nvPr/>
        </p:nvSpPr>
        <p:spPr>
          <a:xfrm>
            <a:off x="548640" y="6309360"/>
            <a:ext cx="11094720" cy="15240"/>
          </a:xfrm>
          <a:prstGeom prst="rect">
            <a:avLst/>
          </a:prstGeom>
          <a:solidFill>
            <a:srgbClr val="54715C"/>
          </a:solidFill>
          <a:ln w="12700">
            <a:solidFill>
              <a:srgbClr val="54715C">
                <a:alpha val="0"/>
              </a:srgbClr>
            </a:solidFill>
            <a:prstDash val="solid"/>
          </a:ln>
        </p:spPr>
      </p:sp>
      <p:sp>
        <p:nvSpPr>
          <p:cNvPr id="6" name="Text 4"/>
          <p:cNvSpPr/>
          <p:nvPr/>
        </p:nvSpPr>
        <p:spPr>
          <a:xfrm>
            <a:off x="548640" y="6477000"/>
            <a:ext cx="8382000" cy="182880"/>
          </a:xfrm>
          <a:prstGeom prst="rect">
            <a:avLst/>
          </a:prstGeom>
          <a:noFill/>
          <a:ln/>
        </p:spPr>
        <p:txBody>
          <a:bodyPr wrap="square" lIns="0" tIns="0" rIns="0" bIns="0" rtlCol="0" anchor="t"/>
          <a:lstStyle/>
          <a:p>
            <a:pPr indent="0" marL="0">
              <a:lnSpc>
                <a:spcPct val="108000"/>
              </a:lnSpc>
              <a:buNone/>
            </a:pPr>
            <a:r>
              <a:rPr lang="en-US" sz="960" dirty="0">
                <a:solidFill>
                  <a:srgbClr val="F7F8F3"/>
                </a:solidFill>
                <a:latin typeface="Arial" pitchFamily="34" charset="0"/>
                <a:ea typeface="Arial" pitchFamily="34" charset="-122"/>
                <a:cs typeface="Arial" pitchFamily="34" charset="-120"/>
              </a:rPr>
              <a:t>ICC × IGNYTE  /  BEYOND BOUNDARIES</a:t>
            </a:r>
            <a:endParaRPr lang="en-US" sz="960" dirty="0"/>
          </a:p>
        </p:txBody>
      </p:sp>
      <p:sp>
        <p:nvSpPr>
          <p:cNvPr id="7" name="Text 5"/>
          <p:cNvSpPr/>
          <p:nvPr/>
        </p:nvSpPr>
        <p:spPr>
          <a:xfrm>
            <a:off x="10820400" y="6446520"/>
            <a:ext cx="914400" cy="228600"/>
          </a:xfrm>
          <a:prstGeom prst="rect">
            <a:avLst/>
          </a:prstGeom>
          <a:noFill/>
          <a:ln/>
        </p:spPr>
        <p:txBody>
          <a:bodyPr wrap="square" lIns="0" tIns="0" rIns="0" bIns="0" rtlCol="0" anchor="t"/>
          <a:lstStyle/>
          <a:p>
            <a:pPr indent="0" marL="0">
              <a:lnSpc>
                <a:spcPct val="108000"/>
              </a:lnSpc>
              <a:buNone/>
            </a:pPr>
            <a:r>
              <a:rPr lang="en-US" sz="1200" b="1" dirty="0">
                <a:solidFill>
                  <a:srgbClr val="D8EF86"/>
                </a:solidFill>
                <a:latin typeface="Arial" pitchFamily="34" charset="0"/>
                <a:ea typeface="Arial" pitchFamily="34" charset="-122"/>
                <a:cs typeface="Arial" pitchFamily="34" charset="-120"/>
              </a:rPr>
              <a:t>01 / 04</a:t>
            </a:r>
            <a:endParaRPr lang="en-US" sz="1200" dirty="0"/>
          </a:p>
        </p:txBody>
      </p:sp>
      <p:sp>
        <p:nvSpPr>
          <p:cNvPr id="8" name="Text 6"/>
          <p:cNvSpPr/>
          <p:nvPr/>
        </p:nvSpPr>
        <p:spPr>
          <a:xfrm>
            <a:off x="548640" y="1127760"/>
            <a:ext cx="7086600" cy="1981200"/>
          </a:xfrm>
          <a:prstGeom prst="rect">
            <a:avLst/>
          </a:prstGeom>
          <a:noFill/>
          <a:ln/>
        </p:spPr>
        <p:txBody>
          <a:bodyPr wrap="square" lIns="0" tIns="0" rIns="0" bIns="0" rtlCol="0" anchor="t"/>
          <a:lstStyle/>
          <a:p>
            <a:pPr indent="0" marL="0">
              <a:lnSpc>
                <a:spcPct val="108000"/>
              </a:lnSpc>
              <a:buNone/>
            </a:pPr>
            <a:r>
              <a:rPr lang="en-US" sz="4560" b="1" dirty="0">
                <a:solidFill>
                  <a:srgbClr val="FFFFFF"/>
                </a:solidFill>
                <a:latin typeface="Arial" pitchFamily="34" charset="0"/>
                <a:ea typeface="Arial" pitchFamily="34" charset="-122"/>
                <a:cs typeface="Arial" pitchFamily="34" charset="-120"/>
              </a:rPr>
              <a:t>Her progress should</a:t>
            </a:r>
            <a:endParaRPr lang="en-US" sz="4560" dirty="0"/>
          </a:p>
          <a:p>
            <a:pPr indent="0" marL="0">
              <a:lnSpc>
                <a:spcPct val="108000"/>
              </a:lnSpc>
              <a:buNone/>
            </a:pPr>
            <a:r>
              <a:rPr lang="en-US" sz="4560" b="1" dirty="0">
                <a:solidFill>
                  <a:srgbClr val="FFFFFF"/>
                </a:solidFill>
                <a:latin typeface="Arial" pitchFamily="34" charset="0"/>
                <a:ea typeface="Arial" pitchFamily="34" charset="-122"/>
                <a:cs typeface="Arial" pitchFamily="34" charset="-120"/>
              </a:rPr>
              <a:t>travel beyond</a:t>
            </a:r>
            <a:endParaRPr lang="en-US" sz="4560" dirty="0"/>
          </a:p>
          <a:p>
            <a:pPr indent="0" marL="0">
              <a:lnSpc>
                <a:spcPct val="108000"/>
              </a:lnSpc>
              <a:buNone/>
            </a:pPr>
            <a:r>
              <a:rPr lang="en-US" sz="4560" b="1" dirty="0">
                <a:solidFill>
                  <a:srgbClr val="FFFFFF"/>
                </a:solidFill>
                <a:latin typeface="Arial" pitchFamily="34" charset="0"/>
                <a:ea typeface="Arial" pitchFamily="34" charset="-122"/>
                <a:cs typeface="Arial" pitchFamily="34" charset="-120"/>
              </a:rPr>
              <a:t>the scorecard.</a:t>
            </a:r>
            <a:endParaRPr lang="en-US" sz="4560" dirty="0"/>
          </a:p>
        </p:txBody>
      </p:sp>
      <p:sp>
        <p:nvSpPr>
          <p:cNvPr id="9" name="Text 7"/>
          <p:cNvSpPr/>
          <p:nvPr/>
        </p:nvSpPr>
        <p:spPr>
          <a:xfrm>
            <a:off x="586740" y="3474720"/>
            <a:ext cx="6553200" cy="777240"/>
          </a:xfrm>
          <a:prstGeom prst="rect">
            <a:avLst/>
          </a:prstGeom>
          <a:noFill/>
          <a:ln/>
        </p:spPr>
        <p:txBody>
          <a:bodyPr wrap="square" lIns="0" tIns="0" rIns="0" bIns="0" rtlCol="0" anchor="t"/>
          <a:lstStyle/>
          <a:p>
            <a:pPr indent="0" marL="0">
              <a:lnSpc>
                <a:spcPct val="108000"/>
              </a:lnSpc>
              <a:buNone/>
            </a:pPr>
            <a:r>
              <a:rPr lang="en-US" sz="1920" dirty="0">
                <a:solidFill>
                  <a:srgbClr val="F7F8F3"/>
                </a:solidFill>
                <a:latin typeface="Arial" pitchFamily="34" charset="0"/>
                <a:ea typeface="Arial" pitchFamily="34" charset="-122"/>
                <a:cs typeface="Arial" pitchFamily="34" charset="-120"/>
              </a:rPr>
              <a:t>Turn everyday training into a personal record,</a:t>
            </a:r>
            <a:endParaRPr lang="en-US" sz="1920" dirty="0"/>
          </a:p>
          <a:p>
            <a:pPr indent="0" marL="0">
              <a:lnSpc>
                <a:spcPct val="108000"/>
              </a:lnSpc>
              <a:buNone/>
            </a:pPr>
            <a:r>
              <a:rPr lang="en-US" sz="1920" dirty="0">
                <a:solidFill>
                  <a:srgbClr val="F7F8F3"/>
                </a:solidFill>
                <a:latin typeface="Arial" pitchFamily="34" charset="0"/>
                <a:ea typeface="Arial" pitchFamily="34" charset="-122"/>
                <a:cs typeface="Arial" pitchFamily="34" charset="-120"/>
              </a:rPr>
              <a:t>useful coach context and chosen moments of visibility.</a:t>
            </a:r>
            <a:endParaRPr lang="en-US" sz="1920" dirty="0"/>
          </a:p>
        </p:txBody>
      </p:sp>
      <p:sp>
        <p:nvSpPr>
          <p:cNvPr id="10" name="Shape 8"/>
          <p:cNvSpPr/>
          <p:nvPr/>
        </p:nvSpPr>
        <p:spPr>
          <a:xfrm>
            <a:off x="586740" y="4602480"/>
            <a:ext cx="1181100" cy="320040"/>
          </a:xfrm>
          <a:prstGeom prst="rect">
            <a:avLst/>
          </a:prstGeom>
          <a:solidFill>
            <a:srgbClr val="D8EF86"/>
          </a:solidFill>
          <a:ln w="12700">
            <a:solidFill>
              <a:srgbClr val="D8EF86">
                <a:alpha val="0"/>
              </a:srgbClr>
            </a:solidFill>
            <a:prstDash val="solid"/>
          </a:ln>
        </p:spPr>
      </p:sp>
      <p:sp>
        <p:nvSpPr>
          <p:cNvPr id="11" name="Text 9"/>
          <p:cNvSpPr/>
          <p:nvPr/>
        </p:nvSpPr>
        <p:spPr>
          <a:xfrm>
            <a:off x="708660" y="4663440"/>
            <a:ext cx="990600" cy="213360"/>
          </a:xfrm>
          <a:prstGeom prst="rect">
            <a:avLst/>
          </a:prstGeom>
          <a:noFill/>
          <a:ln/>
        </p:spPr>
        <p:txBody>
          <a:bodyPr wrap="square" lIns="0" tIns="0" rIns="0" bIns="0" rtlCol="0" anchor="t"/>
          <a:lstStyle/>
          <a:p>
            <a:pPr indent="0" marL="0">
              <a:lnSpc>
                <a:spcPct val="108000"/>
              </a:lnSpc>
              <a:buNone/>
            </a:pPr>
            <a:r>
              <a:rPr lang="en-US" sz="1260" b="1" dirty="0">
                <a:solidFill>
                  <a:srgbClr val="193D2D"/>
                </a:solidFill>
                <a:latin typeface="Arial" pitchFamily="34" charset="0"/>
                <a:ea typeface="Arial" pitchFamily="34" charset="-122"/>
                <a:cs typeface="Arial" pitchFamily="34" charset="-120"/>
              </a:rPr>
              <a:t>BATTING</a:t>
            </a:r>
            <a:endParaRPr lang="en-US" sz="1260" dirty="0"/>
          </a:p>
        </p:txBody>
      </p:sp>
      <p:sp>
        <p:nvSpPr>
          <p:cNvPr id="12" name="Shape 10"/>
          <p:cNvSpPr/>
          <p:nvPr/>
        </p:nvSpPr>
        <p:spPr>
          <a:xfrm>
            <a:off x="1889760" y="4602480"/>
            <a:ext cx="1295400" cy="320040"/>
          </a:xfrm>
          <a:prstGeom prst="rect">
            <a:avLst/>
          </a:prstGeom>
          <a:solidFill>
            <a:srgbClr val="D8EF86"/>
          </a:solidFill>
          <a:ln w="12700">
            <a:solidFill>
              <a:srgbClr val="D8EF86">
                <a:alpha val="0"/>
              </a:srgbClr>
            </a:solidFill>
            <a:prstDash val="solid"/>
          </a:ln>
        </p:spPr>
      </p:sp>
      <p:sp>
        <p:nvSpPr>
          <p:cNvPr id="13" name="Text 11"/>
          <p:cNvSpPr/>
          <p:nvPr/>
        </p:nvSpPr>
        <p:spPr>
          <a:xfrm>
            <a:off x="2011680" y="4663440"/>
            <a:ext cx="1104900" cy="213360"/>
          </a:xfrm>
          <a:prstGeom prst="rect">
            <a:avLst/>
          </a:prstGeom>
          <a:noFill/>
          <a:ln/>
        </p:spPr>
        <p:txBody>
          <a:bodyPr wrap="square" lIns="0" tIns="0" rIns="0" bIns="0" rtlCol="0" anchor="t"/>
          <a:lstStyle/>
          <a:p>
            <a:pPr indent="0" marL="0">
              <a:lnSpc>
                <a:spcPct val="108000"/>
              </a:lnSpc>
              <a:buNone/>
            </a:pPr>
            <a:r>
              <a:rPr lang="en-US" sz="1260" b="1" dirty="0">
                <a:solidFill>
                  <a:srgbClr val="193D2D"/>
                </a:solidFill>
                <a:latin typeface="Arial" pitchFamily="34" charset="0"/>
                <a:ea typeface="Arial" pitchFamily="34" charset="-122"/>
                <a:cs typeface="Arial" pitchFamily="34" charset="-120"/>
              </a:rPr>
              <a:t>BOWLING</a:t>
            </a:r>
            <a:endParaRPr lang="en-US" sz="1260" dirty="0"/>
          </a:p>
        </p:txBody>
      </p:sp>
      <p:sp>
        <p:nvSpPr>
          <p:cNvPr id="14" name="Shape 12"/>
          <p:cNvSpPr/>
          <p:nvPr/>
        </p:nvSpPr>
        <p:spPr>
          <a:xfrm>
            <a:off x="3307080" y="4602480"/>
            <a:ext cx="1280160" cy="320040"/>
          </a:xfrm>
          <a:prstGeom prst="rect">
            <a:avLst/>
          </a:prstGeom>
          <a:solidFill>
            <a:srgbClr val="D8EF86"/>
          </a:solidFill>
          <a:ln w="12700">
            <a:solidFill>
              <a:srgbClr val="D8EF86">
                <a:alpha val="0"/>
              </a:srgbClr>
            </a:solidFill>
            <a:prstDash val="solid"/>
          </a:ln>
        </p:spPr>
      </p:sp>
      <p:sp>
        <p:nvSpPr>
          <p:cNvPr id="15" name="Text 13"/>
          <p:cNvSpPr/>
          <p:nvPr/>
        </p:nvSpPr>
        <p:spPr>
          <a:xfrm>
            <a:off x="3429000" y="4663440"/>
            <a:ext cx="1089660" cy="213360"/>
          </a:xfrm>
          <a:prstGeom prst="rect">
            <a:avLst/>
          </a:prstGeom>
          <a:noFill/>
          <a:ln/>
        </p:spPr>
        <p:txBody>
          <a:bodyPr wrap="square" lIns="0" tIns="0" rIns="0" bIns="0" rtlCol="0" anchor="t"/>
          <a:lstStyle/>
          <a:p>
            <a:pPr indent="0" marL="0">
              <a:lnSpc>
                <a:spcPct val="108000"/>
              </a:lnSpc>
              <a:buNone/>
            </a:pPr>
            <a:r>
              <a:rPr lang="en-US" sz="1260" b="1" dirty="0">
                <a:solidFill>
                  <a:srgbClr val="193D2D"/>
                </a:solidFill>
                <a:latin typeface="Arial" pitchFamily="34" charset="0"/>
                <a:ea typeface="Arial" pitchFamily="34" charset="-122"/>
                <a:cs typeface="Arial" pitchFamily="34" charset="-120"/>
              </a:rPr>
              <a:t>FIELDING</a:t>
            </a:r>
            <a:endParaRPr lang="en-US" sz="1260" dirty="0"/>
          </a:p>
        </p:txBody>
      </p:sp>
      <p:sp>
        <p:nvSpPr>
          <p:cNvPr id="16" name="Text 14"/>
          <p:cNvSpPr/>
          <p:nvPr/>
        </p:nvSpPr>
        <p:spPr>
          <a:xfrm>
            <a:off x="586740" y="5501640"/>
            <a:ext cx="6324600" cy="381000"/>
          </a:xfrm>
          <a:prstGeom prst="rect">
            <a:avLst/>
          </a:prstGeom>
          <a:noFill/>
          <a:ln/>
        </p:spPr>
        <p:txBody>
          <a:bodyPr wrap="square" lIns="0" tIns="0" rIns="0" bIns="0" rtlCol="0" anchor="t"/>
          <a:lstStyle/>
          <a:p>
            <a:pPr indent="0" marL="0">
              <a:lnSpc>
                <a:spcPct val="108000"/>
              </a:lnSpc>
              <a:buNone/>
            </a:pPr>
            <a:r>
              <a:rPr lang="en-US" sz="1740" b="1" dirty="0">
                <a:solidFill>
                  <a:srgbClr val="D8EF86"/>
                </a:solidFill>
                <a:latin typeface="Arial" pitchFamily="34" charset="0"/>
                <a:ea typeface="Arial" pitchFamily="34" charset="-122"/>
                <a:cs typeface="Arial" pitchFamily="34" charset="-120"/>
              </a:rPr>
              <a:t>Presented by Vijaya Rupesh N</a:t>
            </a:r>
            <a:endParaRPr lang="en-US" sz="1740" dirty="0"/>
          </a:p>
        </p:txBody>
      </p:sp>
      <p:sp>
        <p:nvSpPr>
          <p:cNvPr id="17" name="Shape 15"/>
          <p:cNvSpPr/>
          <p:nvPr/>
        </p:nvSpPr>
        <p:spPr>
          <a:xfrm>
            <a:off x="7848600" y="1104900"/>
            <a:ext cx="3794760" cy="4640580"/>
          </a:xfrm>
          <a:prstGeom prst="rect">
            <a:avLst/>
          </a:prstGeom>
          <a:solidFill>
            <a:srgbClr val="264D39"/>
          </a:solidFill>
          <a:ln w="12700">
            <a:solidFill>
              <a:srgbClr val="264D39">
                <a:alpha val="0"/>
              </a:srgbClr>
            </a:solidFill>
            <a:prstDash val="solid"/>
          </a:ln>
        </p:spPr>
      </p:sp>
      <p:sp>
        <p:nvSpPr>
          <p:cNvPr id="18" name="Text 16"/>
          <p:cNvSpPr/>
          <p:nvPr/>
        </p:nvSpPr>
        <p:spPr>
          <a:xfrm>
            <a:off x="8107680" y="1356360"/>
            <a:ext cx="3238500" cy="289560"/>
          </a:xfrm>
          <a:prstGeom prst="rect">
            <a:avLst/>
          </a:prstGeom>
          <a:noFill/>
          <a:ln/>
        </p:spPr>
        <p:txBody>
          <a:bodyPr wrap="square" lIns="0" tIns="0" rIns="0" bIns="0" rtlCol="0" anchor="t"/>
          <a:lstStyle/>
          <a:p>
            <a:pPr indent="0" marL="0">
              <a:lnSpc>
                <a:spcPct val="108000"/>
              </a:lnSpc>
              <a:buNone/>
            </a:pPr>
            <a:r>
              <a:rPr lang="en-US" sz="1260" b="1" dirty="0">
                <a:solidFill>
                  <a:srgbClr val="D8EF86"/>
                </a:solidFill>
                <a:latin typeface="Arial" pitchFamily="34" charset="0"/>
                <a:ea typeface="Arial" pitchFamily="34" charset="-122"/>
                <a:cs typeface="Arial" pitchFamily="34" charset="-120"/>
              </a:rPr>
              <a:t>THE PROBLEM TO VALIDATE</a:t>
            </a:r>
            <a:endParaRPr lang="en-US" sz="1260" dirty="0"/>
          </a:p>
        </p:txBody>
      </p:sp>
      <p:sp>
        <p:nvSpPr>
          <p:cNvPr id="19" name="Text 17"/>
          <p:cNvSpPr/>
          <p:nvPr/>
        </p:nvSpPr>
        <p:spPr>
          <a:xfrm>
            <a:off x="8107680" y="1943100"/>
            <a:ext cx="3238500" cy="304800"/>
          </a:xfrm>
          <a:prstGeom prst="rect">
            <a:avLst/>
          </a:prstGeom>
          <a:noFill/>
          <a:ln/>
        </p:spPr>
        <p:txBody>
          <a:bodyPr wrap="square" lIns="0" tIns="0" rIns="0" bIns="0" rtlCol="0" anchor="t"/>
          <a:lstStyle/>
          <a:p>
            <a:pPr indent="0" marL="0">
              <a:lnSpc>
                <a:spcPct val="108000"/>
              </a:lnSpc>
              <a:buNone/>
            </a:pPr>
            <a:r>
              <a:rPr lang="en-US" sz="1800" b="1" dirty="0">
                <a:solidFill>
                  <a:srgbClr val="FFFFFF"/>
                </a:solidFill>
                <a:latin typeface="Arial" pitchFamily="34" charset="0"/>
                <a:ea typeface="Arial" pitchFamily="34" charset="-122"/>
                <a:cs typeface="Arial" pitchFamily="34" charset="-120"/>
              </a:rPr>
              <a:t>01  Fragmented progress</a:t>
            </a:r>
            <a:endParaRPr lang="en-US" sz="1800" dirty="0"/>
          </a:p>
        </p:txBody>
      </p:sp>
      <p:sp>
        <p:nvSpPr>
          <p:cNvPr id="20" name="Text 18"/>
          <p:cNvSpPr/>
          <p:nvPr/>
        </p:nvSpPr>
        <p:spPr>
          <a:xfrm>
            <a:off x="8107680" y="2346960"/>
            <a:ext cx="3238500" cy="647700"/>
          </a:xfrm>
          <a:prstGeom prst="rect">
            <a:avLst/>
          </a:prstGeom>
          <a:noFill/>
          <a:ln/>
        </p:spPr>
        <p:txBody>
          <a:bodyPr wrap="square" lIns="0" tIns="0" rIns="0" bIns="0" rtlCol="0" anchor="t"/>
          <a:lstStyle/>
          <a:p>
            <a:pPr indent="0" marL="0">
              <a:lnSpc>
                <a:spcPct val="108000"/>
              </a:lnSpc>
              <a:buNone/>
            </a:pPr>
            <a:r>
              <a:rPr lang="en-US" sz="1560" dirty="0">
                <a:solidFill>
                  <a:srgbClr val="F7F8F3"/>
                </a:solidFill>
                <a:latin typeface="Arial" pitchFamily="34" charset="0"/>
                <a:ea typeface="Arial" pitchFamily="34" charset="-122"/>
                <a:cs typeface="Arial" pitchFamily="34" charset="-120"/>
              </a:rPr>
              <a:t>Practice records can get lost</a:t>
            </a:r>
            <a:endParaRPr lang="en-US" sz="1560" dirty="0"/>
          </a:p>
          <a:p>
            <a:pPr indent="0" marL="0">
              <a:lnSpc>
                <a:spcPct val="108000"/>
              </a:lnSpc>
              <a:buNone/>
            </a:pPr>
            <a:r>
              <a:rPr lang="en-US" sz="1560" dirty="0">
                <a:solidFill>
                  <a:srgbClr val="F7F8F3"/>
                </a:solidFill>
                <a:latin typeface="Arial" pitchFamily="34" charset="0"/>
                <a:ea typeface="Arial" pitchFamily="34" charset="-122"/>
                <a:cs typeface="Arial" pitchFamily="34" charset="-120"/>
              </a:rPr>
              <a:t>between matches and messages.</a:t>
            </a:r>
            <a:endParaRPr lang="en-US" sz="1560" dirty="0"/>
          </a:p>
        </p:txBody>
      </p:sp>
      <p:sp>
        <p:nvSpPr>
          <p:cNvPr id="21" name="Text 19"/>
          <p:cNvSpPr/>
          <p:nvPr/>
        </p:nvSpPr>
        <p:spPr>
          <a:xfrm>
            <a:off x="8107680" y="3177540"/>
            <a:ext cx="3238500" cy="304800"/>
          </a:xfrm>
          <a:prstGeom prst="rect">
            <a:avLst/>
          </a:prstGeom>
          <a:noFill/>
          <a:ln/>
        </p:spPr>
        <p:txBody>
          <a:bodyPr wrap="square" lIns="0" tIns="0" rIns="0" bIns="0" rtlCol="0" anchor="t"/>
          <a:lstStyle/>
          <a:p>
            <a:pPr indent="0" marL="0">
              <a:lnSpc>
                <a:spcPct val="108000"/>
              </a:lnSpc>
              <a:buNone/>
            </a:pPr>
            <a:r>
              <a:rPr lang="en-US" sz="1800" b="1" dirty="0">
                <a:solidFill>
                  <a:srgbClr val="FFFFFF"/>
                </a:solidFill>
                <a:latin typeface="Arial" pitchFamily="34" charset="0"/>
                <a:ea typeface="Arial" pitchFamily="34" charset="-122"/>
                <a:cs typeface="Arial" pitchFamily="34" charset="-120"/>
              </a:rPr>
              <a:t>02  Limited visibility</a:t>
            </a:r>
            <a:endParaRPr lang="en-US" sz="1800" dirty="0"/>
          </a:p>
        </p:txBody>
      </p:sp>
      <p:sp>
        <p:nvSpPr>
          <p:cNvPr id="22" name="Text 20"/>
          <p:cNvSpPr/>
          <p:nvPr/>
        </p:nvSpPr>
        <p:spPr>
          <a:xfrm>
            <a:off x="8107680" y="3581400"/>
            <a:ext cx="3238500" cy="609600"/>
          </a:xfrm>
          <a:prstGeom prst="rect">
            <a:avLst/>
          </a:prstGeom>
          <a:noFill/>
          <a:ln/>
        </p:spPr>
        <p:txBody>
          <a:bodyPr wrap="square" lIns="0" tIns="0" rIns="0" bIns="0" rtlCol="0" anchor="t"/>
          <a:lstStyle/>
          <a:p>
            <a:pPr indent="0" marL="0">
              <a:lnSpc>
                <a:spcPct val="108000"/>
              </a:lnSpc>
              <a:buNone/>
            </a:pPr>
            <a:r>
              <a:rPr lang="en-US" sz="1560" dirty="0">
                <a:solidFill>
                  <a:srgbClr val="F7F8F3"/>
                </a:solidFill>
                <a:latin typeface="Arial" pitchFamily="34" charset="0"/>
                <a:ea typeface="Arial" pitchFamily="34" charset="-122"/>
                <a:cs typeface="Arial" pitchFamily="34" charset="-120"/>
              </a:rPr>
              <a:t>Everyday effort deserves a story</a:t>
            </a:r>
            <a:endParaRPr lang="en-US" sz="1560" dirty="0"/>
          </a:p>
          <a:p>
            <a:pPr indent="0" marL="0">
              <a:lnSpc>
                <a:spcPct val="108000"/>
              </a:lnSpc>
              <a:buNone/>
            </a:pPr>
            <a:r>
              <a:rPr lang="en-US" sz="1560" dirty="0">
                <a:solidFill>
                  <a:srgbClr val="F7F8F3"/>
                </a:solidFill>
                <a:latin typeface="Arial" pitchFamily="34" charset="0"/>
                <a:ea typeface="Arial" pitchFamily="34" charset="-122"/>
                <a:cs typeface="Arial" pitchFamily="34" charset="-120"/>
              </a:rPr>
              <a:t>beyond match-day statistics.</a:t>
            </a:r>
            <a:endParaRPr lang="en-US" sz="1560" dirty="0"/>
          </a:p>
        </p:txBody>
      </p:sp>
      <p:sp>
        <p:nvSpPr>
          <p:cNvPr id="23" name="Text 21"/>
          <p:cNvSpPr/>
          <p:nvPr/>
        </p:nvSpPr>
        <p:spPr>
          <a:xfrm>
            <a:off x="8107680" y="4396740"/>
            <a:ext cx="3238500" cy="304800"/>
          </a:xfrm>
          <a:prstGeom prst="rect">
            <a:avLst/>
          </a:prstGeom>
          <a:noFill/>
          <a:ln/>
        </p:spPr>
        <p:txBody>
          <a:bodyPr wrap="square" lIns="0" tIns="0" rIns="0" bIns="0" rtlCol="0" anchor="t"/>
          <a:lstStyle/>
          <a:p>
            <a:pPr indent="0" marL="0">
              <a:lnSpc>
                <a:spcPct val="108000"/>
              </a:lnSpc>
              <a:buNone/>
            </a:pPr>
            <a:r>
              <a:rPr lang="en-US" sz="1800" b="1" dirty="0">
                <a:solidFill>
                  <a:srgbClr val="FFFFFF"/>
                </a:solidFill>
                <a:latin typeface="Arial" pitchFamily="34" charset="0"/>
                <a:ea typeface="Arial" pitchFamily="34" charset="-122"/>
                <a:cs typeface="Arial" pitchFamily="34" charset="-120"/>
              </a:rPr>
              <a:t>03  Control over sharing</a:t>
            </a:r>
            <a:endParaRPr lang="en-US" sz="1800" dirty="0"/>
          </a:p>
        </p:txBody>
      </p:sp>
      <p:sp>
        <p:nvSpPr>
          <p:cNvPr id="24" name="Text 22"/>
          <p:cNvSpPr/>
          <p:nvPr/>
        </p:nvSpPr>
        <p:spPr>
          <a:xfrm>
            <a:off x="8107680" y="4800600"/>
            <a:ext cx="3238500" cy="647700"/>
          </a:xfrm>
          <a:prstGeom prst="rect">
            <a:avLst/>
          </a:prstGeom>
          <a:noFill/>
          <a:ln/>
        </p:spPr>
        <p:txBody>
          <a:bodyPr wrap="square" lIns="0" tIns="0" rIns="0" bIns="0" rtlCol="0" anchor="t"/>
          <a:lstStyle/>
          <a:p>
            <a:pPr indent="0" marL="0">
              <a:lnSpc>
                <a:spcPct val="108000"/>
              </a:lnSpc>
              <a:buNone/>
            </a:pPr>
            <a:r>
              <a:rPr lang="en-US" sz="1560" dirty="0">
                <a:solidFill>
                  <a:srgbClr val="F7F8F3"/>
                </a:solidFill>
                <a:latin typeface="Arial" pitchFamily="34" charset="0"/>
                <a:ea typeface="Arial" pitchFamily="34" charset="-122"/>
                <a:cs typeface="Arial" pitchFamily="34" charset="-120"/>
              </a:rPr>
              <a:t>Women athletes should choose</a:t>
            </a:r>
            <a:endParaRPr lang="en-US" sz="1560" dirty="0"/>
          </a:p>
          <a:p>
            <a:pPr indent="0" marL="0">
              <a:lnSpc>
                <a:spcPct val="108000"/>
              </a:lnSpc>
              <a:buNone/>
            </a:pPr>
            <a:r>
              <a:rPr lang="en-US" sz="1560" dirty="0">
                <a:solidFill>
                  <a:srgbClr val="F7F8F3"/>
                </a:solidFill>
                <a:latin typeface="Arial" pitchFamily="34" charset="0"/>
                <a:ea typeface="Arial" pitchFamily="34" charset="-122"/>
                <a:cs typeface="Arial" pitchFamily="34" charset="-120"/>
              </a:rPr>
              <a:t>what to share and with whom.</a:t>
            </a:r>
            <a:endParaRPr lang="en-US" sz="1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8F3"/>
          </a:solidFill>
          <a:ln w="12700">
            <a:solidFill>
              <a:srgbClr val="F7F8F3">
                <a:alpha val="0"/>
              </a:srgbClr>
            </a:solidFill>
            <a:prstDash val="solid"/>
          </a:ln>
        </p:spPr>
      </p:sp>
      <p:sp>
        <p:nvSpPr>
          <p:cNvPr id="3" name="Text 1"/>
          <p:cNvSpPr/>
          <p:nvPr/>
        </p:nvSpPr>
        <p:spPr>
          <a:xfrm>
            <a:off x="548640" y="335280"/>
            <a:ext cx="2286000" cy="304800"/>
          </a:xfrm>
          <a:prstGeom prst="rect">
            <a:avLst/>
          </a:prstGeom>
          <a:noFill/>
          <a:ln/>
        </p:spPr>
        <p:txBody>
          <a:bodyPr wrap="square" lIns="0" tIns="0" rIns="0" bIns="0" rtlCol="0" anchor="t"/>
          <a:lstStyle/>
          <a:p>
            <a:pPr indent="0" marL="0">
              <a:lnSpc>
                <a:spcPct val="108000"/>
              </a:lnSpc>
              <a:buNone/>
            </a:pPr>
            <a:r>
              <a:rPr lang="en-US" sz="1680" b="1" dirty="0">
                <a:solidFill>
                  <a:srgbClr val="193D2D"/>
                </a:solidFill>
                <a:latin typeface="Arial" pitchFamily="34" charset="0"/>
                <a:ea typeface="Arial" pitchFamily="34" charset="-122"/>
                <a:cs typeface="Arial" pitchFamily="34" charset="-120"/>
              </a:rPr>
              <a:t>PITCHUP</a:t>
            </a:r>
            <a:endParaRPr lang="en-US" sz="1680" dirty="0"/>
          </a:p>
        </p:txBody>
      </p:sp>
      <p:sp>
        <p:nvSpPr>
          <p:cNvPr id="4" name="Text 2"/>
          <p:cNvSpPr/>
          <p:nvPr/>
        </p:nvSpPr>
        <p:spPr>
          <a:xfrm>
            <a:off x="6096000" y="373380"/>
            <a:ext cx="5524500" cy="266700"/>
          </a:xfrm>
          <a:prstGeom prst="rect">
            <a:avLst/>
          </a:prstGeom>
          <a:noFill/>
          <a:ln/>
        </p:spPr>
        <p:txBody>
          <a:bodyPr wrap="square" lIns="0" tIns="0" rIns="0" bIns="0" rtlCol="0" anchor="t"/>
          <a:lstStyle/>
          <a:p>
            <a:pPr indent="0" marL="0">
              <a:lnSpc>
                <a:spcPct val="108000"/>
              </a:lnSpc>
              <a:buNone/>
            </a:pPr>
            <a:r>
              <a:rPr lang="en-US" sz="1200" dirty="0">
                <a:solidFill>
                  <a:srgbClr val="596C60"/>
                </a:solidFill>
                <a:latin typeface="Arial" pitchFamily="34" charset="0"/>
                <a:ea typeface="Arial" pitchFamily="34" charset="-122"/>
                <a:cs typeface="Arial" pitchFamily="34" charset="-120"/>
              </a:rPr>
              <a:t>SOLUTION  /  ATHLETE CONTROL</a:t>
            </a:r>
            <a:endParaRPr lang="en-US" sz="1200" dirty="0"/>
          </a:p>
        </p:txBody>
      </p:sp>
      <p:sp>
        <p:nvSpPr>
          <p:cNvPr id="5" name="Shape 3"/>
          <p:cNvSpPr/>
          <p:nvPr/>
        </p:nvSpPr>
        <p:spPr>
          <a:xfrm>
            <a:off x="548640" y="6309360"/>
            <a:ext cx="11094720" cy="15240"/>
          </a:xfrm>
          <a:prstGeom prst="rect">
            <a:avLst/>
          </a:prstGeom>
          <a:solidFill>
            <a:srgbClr val="DCE2D7"/>
          </a:solidFill>
          <a:ln w="12700">
            <a:solidFill>
              <a:srgbClr val="DCE2D7">
                <a:alpha val="0"/>
              </a:srgbClr>
            </a:solidFill>
            <a:prstDash val="solid"/>
          </a:ln>
        </p:spPr>
      </p:sp>
      <p:sp>
        <p:nvSpPr>
          <p:cNvPr id="6" name="Text 4"/>
          <p:cNvSpPr/>
          <p:nvPr/>
        </p:nvSpPr>
        <p:spPr>
          <a:xfrm>
            <a:off x="548640" y="6477000"/>
            <a:ext cx="8382000" cy="182880"/>
          </a:xfrm>
          <a:prstGeom prst="rect">
            <a:avLst/>
          </a:prstGeom>
          <a:noFill/>
          <a:ln/>
        </p:spPr>
        <p:txBody>
          <a:bodyPr wrap="square" lIns="0" tIns="0" rIns="0" bIns="0" rtlCol="0" anchor="t"/>
          <a:lstStyle/>
          <a:p>
            <a:pPr indent="0" marL="0">
              <a:lnSpc>
                <a:spcPct val="108000"/>
              </a:lnSpc>
              <a:buNone/>
            </a:pPr>
            <a:r>
              <a:rPr lang="en-US" sz="960" dirty="0">
                <a:solidFill>
                  <a:srgbClr val="596C60"/>
                </a:solidFill>
                <a:latin typeface="Arial" pitchFamily="34" charset="0"/>
                <a:ea typeface="Arial" pitchFamily="34" charset="-122"/>
                <a:cs typeface="Arial" pitchFamily="34" charset="-120"/>
              </a:rPr>
              <a:t>ICC × IGNYTE  /  BEYOND BOUNDARIES</a:t>
            </a:r>
            <a:endParaRPr lang="en-US" sz="960" dirty="0"/>
          </a:p>
        </p:txBody>
      </p:sp>
      <p:sp>
        <p:nvSpPr>
          <p:cNvPr id="7" name="Text 5"/>
          <p:cNvSpPr/>
          <p:nvPr/>
        </p:nvSpPr>
        <p:spPr>
          <a:xfrm>
            <a:off x="10820400" y="6446520"/>
            <a:ext cx="914400" cy="228600"/>
          </a:xfrm>
          <a:prstGeom prst="rect">
            <a:avLst/>
          </a:prstGeom>
          <a:noFill/>
          <a:ln/>
        </p:spPr>
        <p:txBody>
          <a:bodyPr wrap="square" lIns="0" tIns="0" rIns="0" bIns="0" rtlCol="0" anchor="t"/>
          <a:lstStyle/>
          <a:p>
            <a:pPr indent="0" marL="0">
              <a:lnSpc>
                <a:spcPct val="108000"/>
              </a:lnSpc>
              <a:buNone/>
            </a:pPr>
            <a:r>
              <a:rPr lang="en-US" sz="1200" b="1" dirty="0">
                <a:solidFill>
                  <a:srgbClr val="193D2D"/>
                </a:solidFill>
                <a:latin typeface="Arial" pitchFamily="34" charset="0"/>
                <a:ea typeface="Arial" pitchFamily="34" charset="-122"/>
                <a:cs typeface="Arial" pitchFamily="34" charset="-120"/>
              </a:rPr>
              <a:t>02 / 04</a:t>
            </a:r>
            <a:endParaRPr lang="en-US" sz="1200" dirty="0"/>
          </a:p>
        </p:txBody>
      </p:sp>
      <p:sp>
        <p:nvSpPr>
          <p:cNvPr id="8" name="Text 6"/>
          <p:cNvSpPr/>
          <p:nvPr/>
        </p:nvSpPr>
        <p:spPr>
          <a:xfrm>
            <a:off x="548640" y="1005840"/>
            <a:ext cx="11125200" cy="701040"/>
          </a:xfrm>
          <a:prstGeom prst="rect">
            <a:avLst/>
          </a:prstGeom>
          <a:noFill/>
          <a:ln/>
        </p:spPr>
        <p:txBody>
          <a:bodyPr wrap="square" lIns="0" tIns="0" rIns="0" bIns="0" rtlCol="0" anchor="t"/>
          <a:lstStyle/>
          <a:p>
            <a:pPr indent="0" marL="0">
              <a:lnSpc>
                <a:spcPct val="108000"/>
              </a:lnSpc>
              <a:buNone/>
            </a:pPr>
            <a:r>
              <a:rPr lang="en-US" sz="3720" b="1" dirty="0">
                <a:solidFill>
                  <a:srgbClr val="193D2D"/>
                </a:solidFill>
                <a:latin typeface="Arial" pitchFamily="34" charset="0"/>
                <a:ea typeface="Arial" pitchFamily="34" charset="-122"/>
                <a:cs typeface="Arial" pitchFamily="34" charset="-120"/>
              </a:rPr>
              <a:t>Record privately. Make progress visible.</a:t>
            </a:r>
            <a:endParaRPr lang="en-US" sz="3720" dirty="0"/>
          </a:p>
        </p:txBody>
      </p:sp>
      <p:sp>
        <p:nvSpPr>
          <p:cNvPr id="9" name="Text 7"/>
          <p:cNvSpPr/>
          <p:nvPr/>
        </p:nvSpPr>
        <p:spPr>
          <a:xfrm>
            <a:off x="579120" y="1790700"/>
            <a:ext cx="10896600" cy="381000"/>
          </a:xfrm>
          <a:prstGeom prst="rect">
            <a:avLst/>
          </a:prstGeom>
          <a:noFill/>
          <a:ln/>
        </p:spPr>
        <p:txBody>
          <a:bodyPr wrap="square" lIns="0" tIns="0" rIns="0" bIns="0" rtlCol="0" anchor="t"/>
          <a:lstStyle/>
          <a:p>
            <a:pPr indent="0" marL="0">
              <a:lnSpc>
                <a:spcPct val="108000"/>
              </a:lnSpc>
              <a:buNone/>
            </a:pPr>
            <a:r>
              <a:rPr lang="en-US" sz="1740" dirty="0">
                <a:solidFill>
                  <a:srgbClr val="596C60"/>
                </a:solidFill>
                <a:latin typeface="Arial" pitchFamily="34" charset="0"/>
                <a:ea typeface="Arial" pitchFamily="34" charset="-122"/>
                <a:cs typeface="Arial" pitchFamily="34" charset="-120"/>
              </a:rPr>
              <a:t>A cricket-specific journey with separate choices for coach access and milestone sharing.</a:t>
            </a:r>
            <a:endParaRPr lang="en-US" sz="1740" dirty="0"/>
          </a:p>
        </p:txBody>
      </p:sp>
      <p:pic>
        <p:nvPicPr>
          <p:cNvPr id="10" name="Image 0" descr="assets/journey.png">    </p:cNvPr>
          <p:cNvPicPr>
            <a:picLocks noChangeAspect="1"/>
          </p:cNvPicPr>
          <p:nvPr/>
        </p:nvPicPr>
        <p:blipFill>
          <a:blip r:embed="rId1"/>
          <a:stretch>
            <a:fillRect/>
          </a:stretch>
        </p:blipFill>
        <p:spPr>
          <a:xfrm>
            <a:off x="548640" y="2522220"/>
            <a:ext cx="7315200" cy="3398520"/>
          </a:xfrm>
          <a:prstGeom prst="rect">
            <a:avLst/>
          </a:prstGeom>
        </p:spPr>
      </p:pic>
      <p:sp>
        <p:nvSpPr>
          <p:cNvPr id="11" name="Text 8"/>
          <p:cNvSpPr/>
          <p:nvPr/>
        </p:nvSpPr>
        <p:spPr>
          <a:xfrm>
            <a:off x="594360" y="6057900"/>
            <a:ext cx="7200900" cy="190500"/>
          </a:xfrm>
          <a:prstGeom prst="rect">
            <a:avLst/>
          </a:prstGeom>
          <a:noFill/>
          <a:ln/>
        </p:spPr>
        <p:txBody>
          <a:bodyPr wrap="square" lIns="0" tIns="0" rIns="0" bIns="0" rtlCol="0" anchor="t"/>
          <a:lstStyle/>
          <a:p>
            <a:pPr indent="0" marL="0">
              <a:lnSpc>
                <a:spcPct val="108000"/>
              </a:lnSpc>
              <a:buNone/>
            </a:pPr>
            <a:r>
              <a:rPr lang="en-US" sz="960" b="1" dirty="0">
                <a:solidFill>
                  <a:srgbClr val="596C60"/>
                </a:solidFill>
                <a:latin typeface="Arial" pitchFamily="34" charset="0"/>
                <a:ea typeface="Arial" pitchFamily="34" charset="-122"/>
                <a:cs typeface="Arial" pitchFamily="34" charset="-120"/>
              </a:rPr>
              <a:t>CURRENT PROTOTYPE • FICTIONAL RECORDS</a:t>
            </a:r>
            <a:endParaRPr lang="en-US" sz="960" dirty="0"/>
          </a:p>
        </p:txBody>
      </p:sp>
      <p:sp>
        <p:nvSpPr>
          <p:cNvPr id="12" name="Text 9"/>
          <p:cNvSpPr/>
          <p:nvPr/>
        </p:nvSpPr>
        <p:spPr>
          <a:xfrm>
            <a:off x="8153400" y="2567940"/>
            <a:ext cx="441960" cy="320040"/>
          </a:xfrm>
          <a:prstGeom prst="rect">
            <a:avLst/>
          </a:prstGeom>
          <a:noFill/>
          <a:ln/>
        </p:spPr>
        <p:txBody>
          <a:bodyPr wrap="square" lIns="0" tIns="0" rIns="0" bIns="0" rtlCol="0" anchor="t"/>
          <a:lstStyle/>
          <a:p>
            <a:pPr indent="0" marL="0">
              <a:lnSpc>
                <a:spcPct val="108000"/>
              </a:lnSpc>
              <a:buNone/>
            </a:pPr>
            <a:r>
              <a:rPr lang="en-US" sz="1680" b="1" dirty="0">
                <a:solidFill>
                  <a:srgbClr val="596C60"/>
                </a:solidFill>
                <a:latin typeface="Arial" pitchFamily="34" charset="0"/>
                <a:ea typeface="Arial" pitchFamily="34" charset="-122"/>
                <a:cs typeface="Arial" pitchFamily="34" charset="-120"/>
              </a:rPr>
              <a:t>01</a:t>
            </a:r>
            <a:endParaRPr lang="en-US" sz="1680" dirty="0"/>
          </a:p>
        </p:txBody>
      </p:sp>
      <p:sp>
        <p:nvSpPr>
          <p:cNvPr id="13" name="Text 10"/>
          <p:cNvSpPr/>
          <p:nvPr/>
        </p:nvSpPr>
        <p:spPr>
          <a:xfrm>
            <a:off x="8625840" y="2567940"/>
            <a:ext cx="3048000" cy="320040"/>
          </a:xfrm>
          <a:prstGeom prst="rect">
            <a:avLst/>
          </a:prstGeom>
          <a:noFill/>
          <a:ln/>
        </p:spPr>
        <p:txBody>
          <a:bodyPr wrap="square" lIns="0" tIns="0" rIns="0" bIns="0" rtlCol="0" anchor="t"/>
          <a:lstStyle/>
          <a:p>
            <a:pPr indent="0" marL="0">
              <a:lnSpc>
                <a:spcPct val="108000"/>
              </a:lnSpc>
              <a:buNone/>
            </a:pPr>
            <a:r>
              <a:rPr lang="en-US" sz="1800" b="1" dirty="0">
                <a:solidFill>
                  <a:srgbClr val="193D2D"/>
                </a:solidFill>
                <a:latin typeface="Arial" pitchFamily="34" charset="0"/>
                <a:ea typeface="Arial" pitchFamily="34" charset="-122"/>
                <a:cs typeface="Arial" pitchFamily="34" charset="-120"/>
              </a:rPr>
              <a:t>Record</a:t>
            </a:r>
            <a:endParaRPr lang="en-US" sz="1800" dirty="0"/>
          </a:p>
        </p:txBody>
      </p:sp>
      <p:sp>
        <p:nvSpPr>
          <p:cNvPr id="14" name="Text 11"/>
          <p:cNvSpPr/>
          <p:nvPr/>
        </p:nvSpPr>
        <p:spPr>
          <a:xfrm>
            <a:off x="8625840" y="2941320"/>
            <a:ext cx="3025140" cy="716280"/>
          </a:xfrm>
          <a:prstGeom prst="rect">
            <a:avLst/>
          </a:prstGeom>
          <a:noFill/>
          <a:ln/>
        </p:spPr>
        <p:txBody>
          <a:bodyPr wrap="square" lIns="0" tIns="0" rIns="0" bIns="0" rtlCol="0" anchor="t"/>
          <a:lstStyle/>
          <a:p>
            <a:pPr indent="0" marL="0">
              <a:lnSpc>
                <a:spcPct val="108000"/>
              </a:lnSpc>
              <a:buNone/>
            </a:pPr>
            <a:r>
              <a:rPr lang="en-US" sz="1560" dirty="0">
                <a:solidFill>
                  <a:srgbClr val="596C60"/>
                </a:solidFill>
                <a:latin typeface="Arial" pitchFamily="34" charset="0"/>
                <a:ea typeface="Arial" pitchFamily="34" charset="-122"/>
                <a:cs typeface="Arial" pitchFamily="34" charset="-120"/>
              </a:rPr>
              <a:t>Session type, duration, effort</a:t>
            </a:r>
            <a:endParaRPr lang="en-US" sz="1560" dirty="0"/>
          </a:p>
          <a:p>
            <a:pPr indent="0" marL="0">
              <a:lnSpc>
                <a:spcPct val="108000"/>
              </a:lnSpc>
              <a:buNone/>
            </a:pPr>
            <a:r>
              <a:rPr lang="en-US" sz="1560" dirty="0">
                <a:solidFill>
                  <a:srgbClr val="596C60"/>
                </a:solidFill>
                <a:latin typeface="Arial" pitchFamily="34" charset="0"/>
                <a:ea typeface="Arial" pitchFamily="34" charset="-122"/>
                <a:cs typeface="Arial" pitchFamily="34" charset="-120"/>
              </a:rPr>
              <a:t>and a private reflection.</a:t>
            </a:r>
            <a:endParaRPr lang="en-US" sz="1560" dirty="0"/>
          </a:p>
        </p:txBody>
      </p:sp>
      <p:sp>
        <p:nvSpPr>
          <p:cNvPr id="15" name="Text 12"/>
          <p:cNvSpPr/>
          <p:nvPr/>
        </p:nvSpPr>
        <p:spPr>
          <a:xfrm>
            <a:off x="8153400" y="3764280"/>
            <a:ext cx="441960" cy="320040"/>
          </a:xfrm>
          <a:prstGeom prst="rect">
            <a:avLst/>
          </a:prstGeom>
          <a:noFill/>
          <a:ln/>
        </p:spPr>
        <p:txBody>
          <a:bodyPr wrap="square" lIns="0" tIns="0" rIns="0" bIns="0" rtlCol="0" anchor="t"/>
          <a:lstStyle/>
          <a:p>
            <a:pPr indent="0" marL="0">
              <a:lnSpc>
                <a:spcPct val="108000"/>
              </a:lnSpc>
              <a:buNone/>
            </a:pPr>
            <a:r>
              <a:rPr lang="en-US" sz="1680" b="1" dirty="0">
                <a:solidFill>
                  <a:srgbClr val="596C60"/>
                </a:solidFill>
                <a:latin typeface="Arial" pitchFamily="34" charset="0"/>
                <a:ea typeface="Arial" pitchFamily="34" charset="-122"/>
                <a:cs typeface="Arial" pitchFamily="34" charset="-120"/>
              </a:rPr>
              <a:t>02</a:t>
            </a:r>
            <a:endParaRPr lang="en-US" sz="1680" dirty="0"/>
          </a:p>
        </p:txBody>
      </p:sp>
      <p:sp>
        <p:nvSpPr>
          <p:cNvPr id="16" name="Text 13"/>
          <p:cNvSpPr/>
          <p:nvPr/>
        </p:nvSpPr>
        <p:spPr>
          <a:xfrm>
            <a:off x="8625840" y="3764280"/>
            <a:ext cx="3048000" cy="320040"/>
          </a:xfrm>
          <a:prstGeom prst="rect">
            <a:avLst/>
          </a:prstGeom>
          <a:noFill/>
          <a:ln/>
        </p:spPr>
        <p:txBody>
          <a:bodyPr wrap="square" lIns="0" tIns="0" rIns="0" bIns="0" rtlCol="0" anchor="t"/>
          <a:lstStyle/>
          <a:p>
            <a:pPr indent="0" marL="0">
              <a:lnSpc>
                <a:spcPct val="108000"/>
              </a:lnSpc>
              <a:buNone/>
            </a:pPr>
            <a:r>
              <a:rPr lang="en-US" sz="1800" b="1" dirty="0">
                <a:solidFill>
                  <a:srgbClr val="193D2D"/>
                </a:solidFill>
                <a:latin typeface="Arial" pitchFamily="34" charset="0"/>
                <a:ea typeface="Arial" pitchFamily="34" charset="-122"/>
                <a:cs typeface="Arial" pitchFamily="34" charset="-120"/>
              </a:rPr>
              <a:t>Understand</a:t>
            </a:r>
            <a:endParaRPr lang="en-US" sz="1800" dirty="0"/>
          </a:p>
        </p:txBody>
      </p:sp>
      <p:sp>
        <p:nvSpPr>
          <p:cNvPr id="17" name="Text 14"/>
          <p:cNvSpPr/>
          <p:nvPr/>
        </p:nvSpPr>
        <p:spPr>
          <a:xfrm>
            <a:off x="8625840" y="4137660"/>
            <a:ext cx="3025140" cy="716280"/>
          </a:xfrm>
          <a:prstGeom prst="rect">
            <a:avLst/>
          </a:prstGeom>
          <a:noFill/>
          <a:ln/>
        </p:spPr>
        <p:txBody>
          <a:bodyPr wrap="square" lIns="0" tIns="0" rIns="0" bIns="0" rtlCol="0" anchor="t"/>
          <a:lstStyle/>
          <a:p>
            <a:pPr indent="0" marL="0">
              <a:lnSpc>
                <a:spcPct val="108000"/>
              </a:lnSpc>
              <a:buNone/>
            </a:pPr>
            <a:r>
              <a:rPr lang="en-US" sz="1560" dirty="0">
                <a:solidFill>
                  <a:srgbClr val="596C60"/>
                </a:solidFill>
                <a:latin typeface="Arial" pitchFamily="34" charset="0"/>
                <a:ea typeface="Arial" pitchFamily="34" charset="-122"/>
                <a:cs typeface="Arial" pitchFamily="34" charset="-120"/>
              </a:rPr>
              <a:t>Weekly history and comparison</a:t>
            </a:r>
            <a:endParaRPr lang="en-US" sz="1560" dirty="0"/>
          </a:p>
          <a:p>
            <a:pPr indent="0" marL="0">
              <a:lnSpc>
                <a:spcPct val="108000"/>
              </a:lnSpc>
              <a:buNone/>
            </a:pPr>
            <a:r>
              <a:rPr lang="en-US" sz="1560" dirty="0">
                <a:solidFill>
                  <a:srgbClr val="596C60"/>
                </a:solidFill>
                <a:latin typeface="Arial" pitchFamily="34" charset="0"/>
                <a:ea typeface="Arial" pitchFamily="34" charset="-122"/>
                <a:cs typeface="Arial" pitchFamily="34" charset="-120"/>
              </a:rPr>
              <a:t>with the athlete’s own plan.</a:t>
            </a:r>
            <a:endParaRPr lang="en-US" sz="1560" dirty="0"/>
          </a:p>
        </p:txBody>
      </p:sp>
      <p:sp>
        <p:nvSpPr>
          <p:cNvPr id="18" name="Text 15"/>
          <p:cNvSpPr/>
          <p:nvPr/>
        </p:nvSpPr>
        <p:spPr>
          <a:xfrm>
            <a:off x="8153400" y="4960620"/>
            <a:ext cx="441960" cy="320040"/>
          </a:xfrm>
          <a:prstGeom prst="rect">
            <a:avLst/>
          </a:prstGeom>
          <a:noFill/>
          <a:ln/>
        </p:spPr>
        <p:txBody>
          <a:bodyPr wrap="square" lIns="0" tIns="0" rIns="0" bIns="0" rtlCol="0" anchor="t"/>
          <a:lstStyle/>
          <a:p>
            <a:pPr indent="0" marL="0">
              <a:lnSpc>
                <a:spcPct val="108000"/>
              </a:lnSpc>
              <a:buNone/>
            </a:pPr>
            <a:r>
              <a:rPr lang="en-US" sz="1680" b="1" dirty="0">
                <a:solidFill>
                  <a:srgbClr val="596C60"/>
                </a:solidFill>
                <a:latin typeface="Arial" pitchFamily="34" charset="0"/>
                <a:ea typeface="Arial" pitchFamily="34" charset="-122"/>
                <a:cs typeface="Arial" pitchFamily="34" charset="-120"/>
              </a:rPr>
              <a:t>03</a:t>
            </a:r>
            <a:endParaRPr lang="en-US" sz="1680" dirty="0"/>
          </a:p>
        </p:txBody>
      </p:sp>
      <p:sp>
        <p:nvSpPr>
          <p:cNvPr id="19" name="Text 16"/>
          <p:cNvSpPr/>
          <p:nvPr/>
        </p:nvSpPr>
        <p:spPr>
          <a:xfrm>
            <a:off x="8625840" y="4960620"/>
            <a:ext cx="3048000" cy="320040"/>
          </a:xfrm>
          <a:prstGeom prst="rect">
            <a:avLst/>
          </a:prstGeom>
          <a:noFill/>
          <a:ln/>
        </p:spPr>
        <p:txBody>
          <a:bodyPr wrap="square" lIns="0" tIns="0" rIns="0" bIns="0" rtlCol="0" anchor="t"/>
          <a:lstStyle/>
          <a:p>
            <a:pPr indent="0" marL="0">
              <a:lnSpc>
                <a:spcPct val="108000"/>
              </a:lnSpc>
              <a:buNone/>
            </a:pPr>
            <a:r>
              <a:rPr lang="en-US" sz="1800" b="1" dirty="0">
                <a:solidFill>
                  <a:srgbClr val="193D2D"/>
                </a:solidFill>
                <a:latin typeface="Arial" pitchFamily="34" charset="0"/>
                <a:ea typeface="Arial" pitchFamily="34" charset="-122"/>
                <a:cs typeface="Arial" pitchFamily="34" charset="-120"/>
              </a:rPr>
              <a:t>Choose the audience</a:t>
            </a:r>
            <a:endParaRPr lang="en-US" sz="1800" dirty="0"/>
          </a:p>
        </p:txBody>
      </p:sp>
      <p:sp>
        <p:nvSpPr>
          <p:cNvPr id="20" name="Text 17"/>
          <p:cNvSpPr/>
          <p:nvPr/>
        </p:nvSpPr>
        <p:spPr>
          <a:xfrm>
            <a:off x="8625840" y="5334000"/>
            <a:ext cx="3025140" cy="716280"/>
          </a:xfrm>
          <a:prstGeom prst="rect">
            <a:avLst/>
          </a:prstGeom>
          <a:noFill/>
          <a:ln/>
        </p:spPr>
        <p:txBody>
          <a:bodyPr wrap="square" lIns="0" tIns="0" rIns="0" bIns="0" rtlCol="0" anchor="t"/>
          <a:lstStyle/>
          <a:p>
            <a:pPr indent="0" marL="0">
              <a:lnSpc>
                <a:spcPct val="108000"/>
              </a:lnSpc>
              <a:buNone/>
            </a:pPr>
            <a:r>
              <a:rPr lang="en-US" sz="1560" dirty="0">
                <a:solidFill>
                  <a:srgbClr val="596C60"/>
                </a:solidFill>
                <a:latin typeface="Arial" pitchFamily="34" charset="0"/>
                <a:ea typeface="Arial" pitchFamily="34" charset="-122"/>
                <a:cs typeface="Arial" pitchFamily="34" charset="-120"/>
              </a:rPr>
              <a:t>Keep private, share a milestone,</a:t>
            </a:r>
            <a:endParaRPr lang="en-US" sz="1560" dirty="0"/>
          </a:p>
          <a:p>
            <a:pPr indent="0" marL="0">
              <a:lnSpc>
                <a:spcPct val="108000"/>
              </a:lnSpc>
              <a:buNone/>
            </a:pPr>
            <a:r>
              <a:rPr lang="en-US" sz="1560" dirty="0">
                <a:solidFill>
                  <a:srgbClr val="596C60"/>
                </a:solidFill>
                <a:latin typeface="Arial" pitchFamily="34" charset="0"/>
                <a:ea typeface="Arial" pitchFamily="34" charset="-122"/>
                <a:cs typeface="Arial" pitchFamily="34" charset="-120"/>
              </a:rPr>
              <a:t>or allow coach access separately.</a:t>
            </a:r>
            <a:endParaRPr lang="en-US" sz="15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8F3"/>
          </a:solidFill>
          <a:ln w="12700">
            <a:solidFill>
              <a:srgbClr val="F7F8F3">
                <a:alpha val="0"/>
              </a:srgbClr>
            </a:solidFill>
            <a:prstDash val="solid"/>
          </a:ln>
        </p:spPr>
      </p:sp>
      <p:sp>
        <p:nvSpPr>
          <p:cNvPr id="3" name="Text 1"/>
          <p:cNvSpPr/>
          <p:nvPr/>
        </p:nvSpPr>
        <p:spPr>
          <a:xfrm>
            <a:off x="548640" y="335280"/>
            <a:ext cx="2286000" cy="304800"/>
          </a:xfrm>
          <a:prstGeom prst="rect">
            <a:avLst/>
          </a:prstGeom>
          <a:noFill/>
          <a:ln/>
        </p:spPr>
        <p:txBody>
          <a:bodyPr wrap="square" lIns="0" tIns="0" rIns="0" bIns="0" rtlCol="0" anchor="t"/>
          <a:lstStyle/>
          <a:p>
            <a:pPr indent="0" marL="0">
              <a:lnSpc>
                <a:spcPct val="108000"/>
              </a:lnSpc>
              <a:buNone/>
            </a:pPr>
            <a:r>
              <a:rPr lang="en-US" sz="1680" b="1" dirty="0">
                <a:solidFill>
                  <a:srgbClr val="193D2D"/>
                </a:solidFill>
                <a:latin typeface="Arial" pitchFamily="34" charset="0"/>
                <a:ea typeface="Arial" pitchFamily="34" charset="-122"/>
                <a:cs typeface="Arial" pitchFamily="34" charset="-120"/>
              </a:rPr>
              <a:t>PITCHUP</a:t>
            </a:r>
            <a:endParaRPr lang="en-US" sz="1680" dirty="0"/>
          </a:p>
        </p:txBody>
      </p:sp>
      <p:sp>
        <p:nvSpPr>
          <p:cNvPr id="4" name="Text 2"/>
          <p:cNvSpPr/>
          <p:nvPr/>
        </p:nvSpPr>
        <p:spPr>
          <a:xfrm>
            <a:off x="6096000" y="373380"/>
            <a:ext cx="5524500" cy="266700"/>
          </a:xfrm>
          <a:prstGeom prst="rect">
            <a:avLst/>
          </a:prstGeom>
          <a:noFill/>
          <a:ln/>
        </p:spPr>
        <p:txBody>
          <a:bodyPr wrap="square" lIns="0" tIns="0" rIns="0" bIns="0" rtlCol="0" anchor="t"/>
          <a:lstStyle/>
          <a:p>
            <a:pPr indent="0" marL="0">
              <a:lnSpc>
                <a:spcPct val="108000"/>
              </a:lnSpc>
              <a:buNone/>
            </a:pPr>
            <a:r>
              <a:rPr lang="en-US" sz="1200" dirty="0">
                <a:solidFill>
                  <a:srgbClr val="596C60"/>
                </a:solidFill>
                <a:latin typeface="Arial" pitchFamily="34" charset="0"/>
                <a:ea typeface="Arial" pitchFamily="34" charset="-122"/>
                <a:cs typeface="Arial" pitchFamily="34" charset="-120"/>
              </a:rPr>
              <a:t>PROTOTYPE  /  FEASIBILITY &amp; INNOVATION</a:t>
            </a:r>
            <a:endParaRPr lang="en-US" sz="1200" dirty="0"/>
          </a:p>
        </p:txBody>
      </p:sp>
      <p:sp>
        <p:nvSpPr>
          <p:cNvPr id="5" name="Shape 3"/>
          <p:cNvSpPr/>
          <p:nvPr/>
        </p:nvSpPr>
        <p:spPr>
          <a:xfrm>
            <a:off x="548640" y="6309360"/>
            <a:ext cx="11094720" cy="15240"/>
          </a:xfrm>
          <a:prstGeom prst="rect">
            <a:avLst/>
          </a:prstGeom>
          <a:solidFill>
            <a:srgbClr val="DCE2D7"/>
          </a:solidFill>
          <a:ln w="12700">
            <a:solidFill>
              <a:srgbClr val="DCE2D7">
                <a:alpha val="0"/>
              </a:srgbClr>
            </a:solidFill>
            <a:prstDash val="solid"/>
          </a:ln>
        </p:spPr>
      </p:sp>
      <p:sp>
        <p:nvSpPr>
          <p:cNvPr id="6" name="Text 4"/>
          <p:cNvSpPr/>
          <p:nvPr/>
        </p:nvSpPr>
        <p:spPr>
          <a:xfrm>
            <a:off x="548640" y="6477000"/>
            <a:ext cx="8382000" cy="182880"/>
          </a:xfrm>
          <a:prstGeom prst="rect">
            <a:avLst/>
          </a:prstGeom>
          <a:noFill/>
          <a:ln/>
        </p:spPr>
        <p:txBody>
          <a:bodyPr wrap="square" lIns="0" tIns="0" rIns="0" bIns="0" rtlCol="0" anchor="t"/>
          <a:lstStyle/>
          <a:p>
            <a:pPr indent="0" marL="0">
              <a:lnSpc>
                <a:spcPct val="108000"/>
              </a:lnSpc>
              <a:buNone/>
            </a:pPr>
            <a:r>
              <a:rPr lang="en-US" sz="960" dirty="0">
                <a:solidFill>
                  <a:srgbClr val="596C60"/>
                </a:solidFill>
                <a:latin typeface="Arial" pitchFamily="34" charset="0"/>
                <a:ea typeface="Arial" pitchFamily="34" charset="-122"/>
                <a:cs typeface="Arial" pitchFamily="34" charset="-120"/>
              </a:rPr>
              <a:t>ICC × IGNYTE  /  BEYOND BOUNDARIES</a:t>
            </a:r>
            <a:endParaRPr lang="en-US" sz="960" dirty="0"/>
          </a:p>
        </p:txBody>
      </p:sp>
      <p:sp>
        <p:nvSpPr>
          <p:cNvPr id="7" name="Text 5"/>
          <p:cNvSpPr/>
          <p:nvPr/>
        </p:nvSpPr>
        <p:spPr>
          <a:xfrm>
            <a:off x="10820400" y="6446520"/>
            <a:ext cx="914400" cy="228600"/>
          </a:xfrm>
          <a:prstGeom prst="rect">
            <a:avLst/>
          </a:prstGeom>
          <a:noFill/>
          <a:ln/>
        </p:spPr>
        <p:txBody>
          <a:bodyPr wrap="square" lIns="0" tIns="0" rIns="0" bIns="0" rtlCol="0" anchor="t"/>
          <a:lstStyle/>
          <a:p>
            <a:pPr indent="0" marL="0">
              <a:lnSpc>
                <a:spcPct val="108000"/>
              </a:lnSpc>
              <a:buNone/>
            </a:pPr>
            <a:r>
              <a:rPr lang="en-US" sz="1200" b="1" dirty="0">
                <a:solidFill>
                  <a:srgbClr val="193D2D"/>
                </a:solidFill>
                <a:latin typeface="Arial" pitchFamily="34" charset="0"/>
                <a:ea typeface="Arial" pitchFamily="34" charset="-122"/>
                <a:cs typeface="Arial" pitchFamily="34" charset="-120"/>
              </a:rPr>
              <a:t>03 / 04</a:t>
            </a:r>
            <a:endParaRPr lang="en-US" sz="1200" dirty="0"/>
          </a:p>
        </p:txBody>
      </p:sp>
      <p:sp>
        <p:nvSpPr>
          <p:cNvPr id="8" name="Text 6"/>
          <p:cNvSpPr/>
          <p:nvPr/>
        </p:nvSpPr>
        <p:spPr>
          <a:xfrm>
            <a:off x="548640" y="1005840"/>
            <a:ext cx="11125200" cy="701040"/>
          </a:xfrm>
          <a:prstGeom prst="rect">
            <a:avLst/>
          </a:prstGeom>
          <a:noFill/>
          <a:ln/>
        </p:spPr>
        <p:txBody>
          <a:bodyPr wrap="square" lIns="0" tIns="0" rIns="0" bIns="0" rtlCol="0" anchor="t"/>
          <a:lstStyle/>
          <a:p>
            <a:pPr indent="0" marL="0">
              <a:lnSpc>
                <a:spcPct val="108000"/>
              </a:lnSpc>
              <a:buNone/>
            </a:pPr>
            <a:r>
              <a:rPr lang="en-US" sz="3720" b="1" dirty="0">
                <a:solidFill>
                  <a:srgbClr val="193D2D"/>
                </a:solidFill>
                <a:latin typeface="Arial" pitchFamily="34" charset="0"/>
                <a:ea typeface="Arial" pitchFamily="34" charset="-122"/>
                <a:cs typeface="Arial" pitchFamily="34" charset="-120"/>
              </a:rPr>
              <a:t>A working core. A clear path to scale.</a:t>
            </a:r>
            <a:endParaRPr lang="en-US" sz="3720" dirty="0"/>
          </a:p>
        </p:txBody>
      </p:sp>
      <p:sp>
        <p:nvSpPr>
          <p:cNvPr id="9" name="Text 7"/>
          <p:cNvSpPr/>
          <p:nvPr/>
        </p:nvSpPr>
        <p:spPr>
          <a:xfrm>
            <a:off x="579120" y="1783080"/>
            <a:ext cx="10896600" cy="365760"/>
          </a:xfrm>
          <a:prstGeom prst="rect">
            <a:avLst/>
          </a:prstGeom>
          <a:noFill/>
          <a:ln/>
        </p:spPr>
        <p:txBody>
          <a:bodyPr wrap="square" lIns="0" tIns="0" rIns="0" bIns="0" rtlCol="0" anchor="t"/>
          <a:lstStyle/>
          <a:p>
            <a:pPr indent="0" marL="0">
              <a:lnSpc>
                <a:spcPct val="108000"/>
              </a:lnSpc>
              <a:buNone/>
            </a:pPr>
            <a:r>
              <a:rPr lang="en-US" sz="1860" dirty="0">
                <a:solidFill>
                  <a:srgbClr val="596C60"/>
                </a:solidFill>
                <a:latin typeface="Arial" pitchFamily="34" charset="0"/>
                <a:ea typeface="Arial" pitchFamily="34" charset="-122"/>
                <a:cs typeface="Arial" pitchFamily="34" charset="-120"/>
              </a:rPr>
              <a:t>Simple inputs → transparent summaries → athlete-selected visibility</a:t>
            </a:r>
            <a:endParaRPr lang="en-US" sz="1860" dirty="0"/>
          </a:p>
        </p:txBody>
      </p:sp>
      <p:sp>
        <p:nvSpPr>
          <p:cNvPr id="10" name="Shape 8"/>
          <p:cNvSpPr/>
          <p:nvPr/>
        </p:nvSpPr>
        <p:spPr>
          <a:xfrm>
            <a:off x="548640" y="2484120"/>
            <a:ext cx="3505200" cy="3223260"/>
          </a:xfrm>
          <a:prstGeom prst="rect">
            <a:avLst/>
          </a:prstGeom>
          <a:solidFill>
            <a:srgbClr val="FFFFFF"/>
          </a:solidFill>
          <a:ln w="12700">
            <a:solidFill>
              <a:srgbClr val="FFFFFF">
                <a:alpha val="0"/>
              </a:srgbClr>
            </a:solidFill>
            <a:prstDash val="solid"/>
          </a:ln>
        </p:spPr>
      </p:sp>
      <p:sp>
        <p:nvSpPr>
          <p:cNvPr id="11" name="Shape 9"/>
          <p:cNvSpPr/>
          <p:nvPr/>
        </p:nvSpPr>
        <p:spPr>
          <a:xfrm>
            <a:off x="4343400" y="2484120"/>
            <a:ext cx="3505200" cy="3223260"/>
          </a:xfrm>
          <a:prstGeom prst="rect">
            <a:avLst/>
          </a:prstGeom>
          <a:solidFill>
            <a:srgbClr val="FFFFFF"/>
          </a:solidFill>
          <a:ln w="12700">
            <a:solidFill>
              <a:srgbClr val="FFFFFF">
                <a:alpha val="0"/>
              </a:srgbClr>
            </a:solidFill>
            <a:prstDash val="solid"/>
          </a:ln>
        </p:spPr>
      </p:sp>
      <p:sp>
        <p:nvSpPr>
          <p:cNvPr id="12" name="Shape 10"/>
          <p:cNvSpPr/>
          <p:nvPr/>
        </p:nvSpPr>
        <p:spPr>
          <a:xfrm>
            <a:off x="8138160" y="2484120"/>
            <a:ext cx="3505200" cy="3223260"/>
          </a:xfrm>
          <a:prstGeom prst="rect">
            <a:avLst/>
          </a:prstGeom>
          <a:solidFill>
            <a:srgbClr val="FFFFFF"/>
          </a:solidFill>
          <a:ln w="12700">
            <a:solidFill>
              <a:srgbClr val="FFFFFF">
                <a:alpha val="0"/>
              </a:srgbClr>
            </a:solidFill>
            <a:prstDash val="solid"/>
          </a:ln>
        </p:spPr>
      </p:sp>
      <p:sp>
        <p:nvSpPr>
          <p:cNvPr id="13" name="Text 11"/>
          <p:cNvSpPr/>
          <p:nvPr/>
        </p:nvSpPr>
        <p:spPr>
          <a:xfrm>
            <a:off x="746760" y="2674620"/>
            <a:ext cx="3108960" cy="259080"/>
          </a:xfrm>
          <a:prstGeom prst="rect">
            <a:avLst/>
          </a:prstGeom>
          <a:noFill/>
          <a:ln/>
        </p:spPr>
        <p:txBody>
          <a:bodyPr wrap="square" lIns="0" tIns="0" rIns="0" bIns="0" rtlCol="0" anchor="t"/>
          <a:lstStyle/>
          <a:p>
            <a:pPr indent="0" marL="0">
              <a:lnSpc>
                <a:spcPct val="108000"/>
              </a:lnSpc>
              <a:buNone/>
            </a:pPr>
            <a:r>
              <a:rPr lang="en-US" sz="1320" b="1" dirty="0">
                <a:solidFill>
                  <a:srgbClr val="596C60"/>
                </a:solidFill>
                <a:latin typeface="Arial" pitchFamily="34" charset="0"/>
                <a:ea typeface="Arial" pitchFamily="34" charset="-122"/>
                <a:cs typeface="Arial" pitchFamily="34" charset="-120"/>
              </a:rPr>
              <a:t>01 / WORKING TODAY</a:t>
            </a:r>
            <a:endParaRPr lang="en-US" sz="1320" dirty="0"/>
          </a:p>
        </p:txBody>
      </p:sp>
      <p:sp>
        <p:nvSpPr>
          <p:cNvPr id="14" name="Text 12"/>
          <p:cNvSpPr/>
          <p:nvPr/>
        </p:nvSpPr>
        <p:spPr>
          <a:xfrm>
            <a:off x="746760" y="3147060"/>
            <a:ext cx="3108960" cy="365760"/>
          </a:xfrm>
          <a:prstGeom prst="rect">
            <a:avLst/>
          </a:prstGeom>
          <a:noFill/>
          <a:ln/>
        </p:spPr>
        <p:txBody>
          <a:bodyPr wrap="square" lIns="0" tIns="0" rIns="0" bIns="0" rtlCol="0" anchor="t"/>
          <a:lstStyle/>
          <a:p>
            <a:pPr indent="0" marL="0">
              <a:lnSpc>
                <a:spcPct val="108000"/>
              </a:lnSpc>
              <a:buNone/>
            </a:pPr>
            <a:r>
              <a:rPr lang="en-US" sz="2220" b="1" dirty="0">
                <a:solidFill>
                  <a:srgbClr val="193D2D"/>
                </a:solidFill>
                <a:latin typeface="Arial" pitchFamily="34" charset="0"/>
                <a:ea typeface="Arial" pitchFamily="34" charset="-122"/>
                <a:cs typeface="Arial" pitchFamily="34" charset="-120"/>
              </a:rPr>
              <a:t>Cricket records</a:t>
            </a:r>
            <a:endParaRPr lang="en-US" sz="2220" dirty="0"/>
          </a:p>
        </p:txBody>
      </p:sp>
      <p:sp>
        <p:nvSpPr>
          <p:cNvPr id="15" name="Text 13"/>
          <p:cNvSpPr/>
          <p:nvPr/>
        </p:nvSpPr>
        <p:spPr>
          <a:xfrm>
            <a:off x="746760" y="3703320"/>
            <a:ext cx="3093720" cy="1706880"/>
          </a:xfrm>
          <a:prstGeom prst="rect">
            <a:avLst/>
          </a:prstGeom>
          <a:noFill/>
          <a:ln/>
        </p:spPr>
        <p:txBody>
          <a:bodyPr wrap="square" lIns="0" tIns="0" rIns="0" bIns="0" rtlCol="0" anchor="t"/>
          <a:lstStyle/>
          <a:p>
            <a:pPr indent="0" marL="0">
              <a:lnSpc>
                <a:spcPct val="108000"/>
              </a:lnSpc>
              <a:buNone/>
            </a:pPr>
            <a:r>
              <a:rPr lang="en-US" sz="1620" dirty="0">
                <a:solidFill>
                  <a:srgbClr val="193D2D"/>
                </a:solidFill>
                <a:latin typeface="Arial" pitchFamily="34" charset="0"/>
                <a:ea typeface="Arial" pitchFamily="34" charset="-122"/>
                <a:cs typeface="Arial" pitchFamily="34" charset="-120"/>
              </a:rPr>
              <a:t>React web prototype</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Batting, bowling, fielding logs</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Weekly history and goals</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Rule-based explanations</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Sharing and coach demo views</a:t>
            </a:r>
            <a:endParaRPr lang="en-US" sz="1620" dirty="0"/>
          </a:p>
        </p:txBody>
      </p:sp>
      <p:sp>
        <p:nvSpPr>
          <p:cNvPr id="16" name="Text 14"/>
          <p:cNvSpPr/>
          <p:nvPr/>
        </p:nvSpPr>
        <p:spPr>
          <a:xfrm>
            <a:off x="4541520" y="2674620"/>
            <a:ext cx="3108960" cy="259080"/>
          </a:xfrm>
          <a:prstGeom prst="rect">
            <a:avLst/>
          </a:prstGeom>
          <a:noFill/>
          <a:ln/>
        </p:spPr>
        <p:txBody>
          <a:bodyPr wrap="square" lIns="0" tIns="0" rIns="0" bIns="0" rtlCol="0" anchor="t"/>
          <a:lstStyle/>
          <a:p>
            <a:pPr indent="0" marL="0">
              <a:lnSpc>
                <a:spcPct val="108000"/>
              </a:lnSpc>
              <a:buNone/>
            </a:pPr>
            <a:r>
              <a:rPr lang="en-US" sz="1320" b="1" dirty="0">
                <a:solidFill>
                  <a:srgbClr val="596C60"/>
                </a:solidFill>
                <a:latin typeface="Arial" pitchFamily="34" charset="0"/>
                <a:ea typeface="Arial" pitchFamily="34" charset="-122"/>
                <a:cs typeface="Arial" pitchFamily="34" charset="-120"/>
              </a:rPr>
              <a:t>02 / RESPONSIBLE AI</a:t>
            </a:r>
            <a:endParaRPr lang="en-US" sz="1320" dirty="0"/>
          </a:p>
        </p:txBody>
      </p:sp>
      <p:sp>
        <p:nvSpPr>
          <p:cNvPr id="17" name="Text 15"/>
          <p:cNvSpPr/>
          <p:nvPr/>
        </p:nvSpPr>
        <p:spPr>
          <a:xfrm>
            <a:off x="4541520" y="3147060"/>
            <a:ext cx="3108960" cy="365760"/>
          </a:xfrm>
          <a:prstGeom prst="rect">
            <a:avLst/>
          </a:prstGeom>
          <a:noFill/>
          <a:ln/>
        </p:spPr>
        <p:txBody>
          <a:bodyPr wrap="square" lIns="0" tIns="0" rIns="0" bIns="0" rtlCol="0" anchor="t"/>
          <a:lstStyle/>
          <a:p>
            <a:pPr indent="0" marL="0">
              <a:lnSpc>
                <a:spcPct val="108000"/>
              </a:lnSpc>
              <a:buNone/>
            </a:pPr>
            <a:r>
              <a:rPr lang="en-US" sz="2220" b="1" dirty="0">
                <a:solidFill>
                  <a:srgbClr val="193D2D"/>
                </a:solidFill>
                <a:latin typeface="Arial" pitchFamily="34" charset="0"/>
                <a:ea typeface="Arial" pitchFamily="34" charset="-122"/>
                <a:cs typeface="Arial" pitchFamily="34" charset="-120"/>
              </a:rPr>
              <a:t>Grounded guidance</a:t>
            </a:r>
            <a:endParaRPr lang="en-US" sz="2220" dirty="0"/>
          </a:p>
        </p:txBody>
      </p:sp>
      <p:sp>
        <p:nvSpPr>
          <p:cNvPr id="18" name="Text 16"/>
          <p:cNvSpPr/>
          <p:nvPr/>
        </p:nvSpPr>
        <p:spPr>
          <a:xfrm>
            <a:off x="4541520" y="3703320"/>
            <a:ext cx="3093720" cy="1706880"/>
          </a:xfrm>
          <a:prstGeom prst="rect">
            <a:avLst/>
          </a:prstGeom>
          <a:noFill/>
          <a:ln/>
        </p:spPr>
        <p:txBody>
          <a:bodyPr wrap="square" lIns="0" tIns="0" rIns="0" bIns="0" rtlCol="0" anchor="t"/>
          <a:lstStyle/>
          <a:p>
            <a:pPr indent="0" marL="0">
              <a:lnSpc>
                <a:spcPct val="108000"/>
              </a:lnSpc>
              <a:buNone/>
            </a:pPr>
            <a:r>
              <a:rPr lang="en-US" sz="1620" dirty="0">
                <a:solidFill>
                  <a:srgbClr val="193D2D"/>
                </a:solidFill>
                <a:latin typeface="Arial" pitchFamily="34" charset="0"/>
                <a:ea typeface="Arial" pitchFamily="34" charset="-122"/>
                <a:cs typeface="Arial" pitchFamily="34" charset="-120"/>
              </a:rPr>
              <a:t>Current insights use rules.</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Planned AI explains logged data</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and helps draft milestones,</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with athlete review before posting.</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No injury-risk prediction.</a:t>
            </a:r>
            <a:endParaRPr lang="en-US" sz="1620" dirty="0"/>
          </a:p>
        </p:txBody>
      </p:sp>
      <p:sp>
        <p:nvSpPr>
          <p:cNvPr id="19" name="Text 17"/>
          <p:cNvSpPr/>
          <p:nvPr/>
        </p:nvSpPr>
        <p:spPr>
          <a:xfrm>
            <a:off x="8336280" y="2674620"/>
            <a:ext cx="3108960" cy="259080"/>
          </a:xfrm>
          <a:prstGeom prst="rect">
            <a:avLst/>
          </a:prstGeom>
          <a:noFill/>
          <a:ln/>
        </p:spPr>
        <p:txBody>
          <a:bodyPr wrap="square" lIns="0" tIns="0" rIns="0" bIns="0" rtlCol="0" anchor="t"/>
          <a:lstStyle/>
          <a:p>
            <a:pPr indent="0" marL="0">
              <a:lnSpc>
                <a:spcPct val="108000"/>
              </a:lnSpc>
              <a:buNone/>
            </a:pPr>
            <a:r>
              <a:rPr lang="en-US" sz="1320" b="1" dirty="0">
                <a:solidFill>
                  <a:srgbClr val="596C60"/>
                </a:solidFill>
                <a:latin typeface="Arial" pitchFamily="34" charset="0"/>
                <a:ea typeface="Arial" pitchFamily="34" charset="-122"/>
                <a:cs typeface="Arial" pitchFamily="34" charset="-120"/>
              </a:rPr>
              <a:t>03 / PRODUCTION PATH</a:t>
            </a:r>
            <a:endParaRPr lang="en-US" sz="1320" dirty="0"/>
          </a:p>
        </p:txBody>
      </p:sp>
      <p:sp>
        <p:nvSpPr>
          <p:cNvPr id="20" name="Text 18"/>
          <p:cNvSpPr/>
          <p:nvPr/>
        </p:nvSpPr>
        <p:spPr>
          <a:xfrm>
            <a:off x="8336280" y="3147060"/>
            <a:ext cx="3108960" cy="365760"/>
          </a:xfrm>
          <a:prstGeom prst="rect">
            <a:avLst/>
          </a:prstGeom>
          <a:noFill/>
          <a:ln/>
        </p:spPr>
        <p:txBody>
          <a:bodyPr wrap="square" lIns="0" tIns="0" rIns="0" bIns="0" rtlCol="0" anchor="t"/>
          <a:lstStyle/>
          <a:p>
            <a:pPr indent="0" marL="0">
              <a:lnSpc>
                <a:spcPct val="108000"/>
              </a:lnSpc>
              <a:buNone/>
            </a:pPr>
            <a:r>
              <a:rPr lang="en-US" sz="2220" b="1" dirty="0">
                <a:solidFill>
                  <a:srgbClr val="193D2D"/>
                </a:solidFill>
                <a:latin typeface="Arial" pitchFamily="34" charset="0"/>
                <a:ea typeface="Arial" pitchFamily="34" charset="-122"/>
                <a:cs typeface="Arial" pitchFamily="34" charset="-120"/>
              </a:rPr>
              <a:t>Trust before rollout</a:t>
            </a:r>
            <a:endParaRPr lang="en-US" sz="2220" dirty="0"/>
          </a:p>
        </p:txBody>
      </p:sp>
      <p:sp>
        <p:nvSpPr>
          <p:cNvPr id="21" name="Text 19"/>
          <p:cNvSpPr/>
          <p:nvPr/>
        </p:nvSpPr>
        <p:spPr>
          <a:xfrm>
            <a:off x="8336280" y="3703320"/>
            <a:ext cx="3093720" cy="1706880"/>
          </a:xfrm>
          <a:prstGeom prst="rect">
            <a:avLst/>
          </a:prstGeom>
          <a:noFill/>
          <a:ln/>
        </p:spPr>
        <p:txBody>
          <a:bodyPr wrap="square" lIns="0" tIns="0" rIns="0" bIns="0" rtlCol="0" anchor="t"/>
          <a:lstStyle/>
          <a:p>
            <a:pPr indent="0" marL="0">
              <a:lnSpc>
                <a:spcPct val="108000"/>
              </a:lnSpc>
              <a:buNone/>
            </a:pPr>
            <a:r>
              <a:rPr lang="en-US" sz="1620" dirty="0">
                <a:solidFill>
                  <a:srgbClr val="193D2D"/>
                </a:solidFill>
                <a:latin typeface="Arial" pitchFamily="34" charset="0"/>
                <a:ea typeface="Arial" pitchFamily="34" charset="-122"/>
                <a:cs typeface="Arial" pitchFamily="34" charset="-120"/>
              </a:rPr>
              <a:t>Add sign-in and verified roles</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Enforce consent on the server</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Move to a managed database</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Test access and data deletion</a:t>
            </a:r>
            <a:endParaRPr lang="en-US" sz="1620" dirty="0"/>
          </a:p>
          <a:p>
            <a:pPr indent="0" marL="0">
              <a:lnSpc>
                <a:spcPct val="108000"/>
              </a:lnSpc>
              <a:buNone/>
            </a:pPr>
            <a:r>
              <a:rPr lang="en-US" sz="1620" dirty="0">
                <a:solidFill>
                  <a:srgbClr val="193D2D"/>
                </a:solidFill>
                <a:latin typeface="Arial" pitchFamily="34" charset="0"/>
                <a:ea typeface="Arial" pitchFamily="34" charset="-122"/>
                <a:cs typeface="Arial" pitchFamily="34" charset="-120"/>
              </a:rPr>
              <a:t>Adapt rules for other sports</a:t>
            </a:r>
            <a:endParaRPr lang="en-US" sz="1620" dirty="0"/>
          </a:p>
        </p:txBody>
      </p:sp>
      <p:sp>
        <p:nvSpPr>
          <p:cNvPr id="22" name="Text 20"/>
          <p:cNvSpPr/>
          <p:nvPr/>
        </p:nvSpPr>
        <p:spPr>
          <a:xfrm>
            <a:off x="594360" y="5951220"/>
            <a:ext cx="11049000" cy="266700"/>
          </a:xfrm>
          <a:prstGeom prst="rect">
            <a:avLst/>
          </a:prstGeom>
          <a:noFill/>
          <a:ln/>
        </p:spPr>
        <p:txBody>
          <a:bodyPr wrap="square" lIns="0" tIns="0" rIns="0" bIns="0" rtlCol="0" anchor="t"/>
          <a:lstStyle/>
          <a:p>
            <a:pPr indent="0" marL="0">
              <a:lnSpc>
                <a:spcPct val="108000"/>
              </a:lnSpc>
              <a:buNone/>
            </a:pPr>
            <a:r>
              <a:rPr lang="en-US" sz="1320" dirty="0">
                <a:solidFill>
                  <a:srgbClr val="596C60"/>
                </a:solidFill>
                <a:latin typeface="Arial" pitchFamily="34" charset="0"/>
                <a:ea typeface="Arial" pitchFamily="34" charset="-122"/>
                <a:cs typeface="Arial" pitchFamily="34" charset="-120"/>
              </a:rPr>
              <a:t>Demo: local / browser persistence and simulated roles. No ICC data integration or live athlete pilot claimed.</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93D2D"/>
          </a:solidFill>
          <a:ln w="12700">
            <a:solidFill>
              <a:srgbClr val="193D2D">
                <a:alpha val="0"/>
              </a:srgbClr>
            </a:solidFill>
            <a:prstDash val="solid"/>
          </a:ln>
        </p:spPr>
      </p:sp>
      <p:sp>
        <p:nvSpPr>
          <p:cNvPr id="3" name="Text 1"/>
          <p:cNvSpPr/>
          <p:nvPr/>
        </p:nvSpPr>
        <p:spPr>
          <a:xfrm>
            <a:off x="548640" y="335280"/>
            <a:ext cx="2286000" cy="304800"/>
          </a:xfrm>
          <a:prstGeom prst="rect">
            <a:avLst/>
          </a:prstGeom>
          <a:noFill/>
          <a:ln/>
        </p:spPr>
        <p:txBody>
          <a:bodyPr wrap="square" lIns="0" tIns="0" rIns="0" bIns="0" rtlCol="0" anchor="t"/>
          <a:lstStyle/>
          <a:p>
            <a:pPr indent="0" marL="0">
              <a:lnSpc>
                <a:spcPct val="108000"/>
              </a:lnSpc>
              <a:buNone/>
            </a:pPr>
            <a:r>
              <a:rPr lang="en-US" sz="1680" b="1" dirty="0">
                <a:solidFill>
                  <a:srgbClr val="D8EF86"/>
                </a:solidFill>
                <a:latin typeface="Arial" pitchFamily="34" charset="0"/>
                <a:ea typeface="Arial" pitchFamily="34" charset="-122"/>
                <a:cs typeface="Arial" pitchFamily="34" charset="-120"/>
              </a:rPr>
              <a:t>PITCHUP</a:t>
            </a:r>
            <a:endParaRPr lang="en-US" sz="1680" dirty="0"/>
          </a:p>
        </p:txBody>
      </p:sp>
      <p:sp>
        <p:nvSpPr>
          <p:cNvPr id="4" name="Text 2"/>
          <p:cNvSpPr/>
          <p:nvPr/>
        </p:nvSpPr>
        <p:spPr>
          <a:xfrm>
            <a:off x="6096000" y="373380"/>
            <a:ext cx="5524500" cy="266700"/>
          </a:xfrm>
          <a:prstGeom prst="rect">
            <a:avLst/>
          </a:prstGeom>
          <a:noFill/>
          <a:ln/>
        </p:spPr>
        <p:txBody>
          <a:bodyPr wrap="square" lIns="0" tIns="0" rIns="0" bIns="0" rtlCol="0" anchor="t"/>
          <a:lstStyle/>
          <a:p>
            <a:pPr indent="0" marL="0">
              <a:lnSpc>
                <a:spcPct val="108000"/>
              </a:lnSpc>
              <a:buNone/>
            </a:pPr>
            <a:r>
              <a:rPr lang="en-US" sz="1200" dirty="0">
                <a:solidFill>
                  <a:srgbClr val="F7F8F3"/>
                </a:solidFill>
                <a:latin typeface="Arial" pitchFamily="34" charset="0"/>
                <a:ea typeface="Arial" pitchFamily="34" charset="-122"/>
                <a:cs typeface="Arial" pitchFamily="34" charset="-120"/>
              </a:rPr>
              <a:t>IMPACT  /  PILOT &amp; SUSTAINABLE GROWTH</a:t>
            </a:r>
            <a:endParaRPr lang="en-US" sz="1200" dirty="0"/>
          </a:p>
        </p:txBody>
      </p:sp>
      <p:sp>
        <p:nvSpPr>
          <p:cNvPr id="5" name="Shape 3"/>
          <p:cNvSpPr/>
          <p:nvPr/>
        </p:nvSpPr>
        <p:spPr>
          <a:xfrm>
            <a:off x="548640" y="6309360"/>
            <a:ext cx="11094720" cy="15240"/>
          </a:xfrm>
          <a:prstGeom prst="rect">
            <a:avLst/>
          </a:prstGeom>
          <a:solidFill>
            <a:srgbClr val="54715C"/>
          </a:solidFill>
          <a:ln w="12700">
            <a:solidFill>
              <a:srgbClr val="54715C">
                <a:alpha val="0"/>
              </a:srgbClr>
            </a:solidFill>
            <a:prstDash val="solid"/>
          </a:ln>
        </p:spPr>
      </p:sp>
      <p:sp>
        <p:nvSpPr>
          <p:cNvPr id="6" name="Text 4"/>
          <p:cNvSpPr/>
          <p:nvPr/>
        </p:nvSpPr>
        <p:spPr>
          <a:xfrm>
            <a:off x="548640" y="6477000"/>
            <a:ext cx="8382000" cy="182880"/>
          </a:xfrm>
          <a:prstGeom prst="rect">
            <a:avLst/>
          </a:prstGeom>
          <a:noFill/>
          <a:ln/>
        </p:spPr>
        <p:txBody>
          <a:bodyPr wrap="square" lIns="0" tIns="0" rIns="0" bIns="0" rtlCol="0" anchor="t"/>
          <a:lstStyle/>
          <a:p>
            <a:pPr indent="0" marL="0">
              <a:lnSpc>
                <a:spcPct val="108000"/>
              </a:lnSpc>
              <a:buNone/>
            </a:pPr>
            <a:r>
              <a:rPr lang="en-US" sz="960" dirty="0">
                <a:solidFill>
                  <a:srgbClr val="F7F8F3"/>
                </a:solidFill>
                <a:latin typeface="Arial" pitchFamily="34" charset="0"/>
                <a:ea typeface="Arial" pitchFamily="34" charset="-122"/>
                <a:cs typeface="Arial" pitchFamily="34" charset="-120"/>
              </a:rPr>
              <a:t>ICC × IGNYTE  /  BEYOND BOUNDARIES</a:t>
            </a:r>
            <a:endParaRPr lang="en-US" sz="960" dirty="0"/>
          </a:p>
        </p:txBody>
      </p:sp>
      <p:sp>
        <p:nvSpPr>
          <p:cNvPr id="7" name="Text 5"/>
          <p:cNvSpPr/>
          <p:nvPr/>
        </p:nvSpPr>
        <p:spPr>
          <a:xfrm>
            <a:off x="10820400" y="6446520"/>
            <a:ext cx="914400" cy="228600"/>
          </a:xfrm>
          <a:prstGeom prst="rect">
            <a:avLst/>
          </a:prstGeom>
          <a:noFill/>
          <a:ln/>
        </p:spPr>
        <p:txBody>
          <a:bodyPr wrap="square" lIns="0" tIns="0" rIns="0" bIns="0" rtlCol="0" anchor="t"/>
          <a:lstStyle/>
          <a:p>
            <a:pPr indent="0" marL="0">
              <a:lnSpc>
                <a:spcPct val="108000"/>
              </a:lnSpc>
              <a:buNone/>
            </a:pPr>
            <a:r>
              <a:rPr lang="en-US" sz="1200" b="1" dirty="0">
                <a:solidFill>
                  <a:srgbClr val="D8EF86"/>
                </a:solidFill>
                <a:latin typeface="Arial" pitchFamily="34" charset="0"/>
                <a:ea typeface="Arial" pitchFamily="34" charset="-122"/>
                <a:cs typeface="Arial" pitchFamily="34" charset="-120"/>
              </a:rPr>
              <a:t>04 / 04</a:t>
            </a:r>
            <a:endParaRPr lang="en-US" sz="1200" dirty="0"/>
          </a:p>
        </p:txBody>
      </p:sp>
      <p:sp>
        <p:nvSpPr>
          <p:cNvPr id="8" name="Text 6"/>
          <p:cNvSpPr/>
          <p:nvPr/>
        </p:nvSpPr>
        <p:spPr>
          <a:xfrm>
            <a:off x="548640" y="960120"/>
            <a:ext cx="11201400" cy="1226820"/>
          </a:xfrm>
          <a:prstGeom prst="rect">
            <a:avLst/>
          </a:prstGeom>
          <a:noFill/>
          <a:ln/>
        </p:spPr>
        <p:txBody>
          <a:bodyPr wrap="square" lIns="0" tIns="0" rIns="0" bIns="0" rtlCol="0" anchor="t"/>
          <a:lstStyle/>
          <a:p>
            <a:pPr indent="0" marL="0">
              <a:lnSpc>
                <a:spcPct val="108000"/>
              </a:lnSpc>
              <a:buNone/>
            </a:pPr>
            <a:r>
              <a:rPr lang="en-US" sz="3900" b="1" dirty="0">
                <a:solidFill>
                  <a:srgbClr val="FFFFFF"/>
                </a:solidFill>
                <a:latin typeface="Arial" pitchFamily="34" charset="0"/>
                <a:ea typeface="Arial" pitchFamily="34" charset="-122"/>
                <a:cs typeface="Arial" pitchFamily="34" charset="-120"/>
              </a:rPr>
              <a:t>Start with women’s cricket.</a:t>
            </a:r>
            <a:endParaRPr lang="en-US" sz="3900" dirty="0"/>
          </a:p>
          <a:p>
            <a:pPr indent="0" marL="0">
              <a:lnSpc>
                <a:spcPct val="108000"/>
              </a:lnSpc>
              <a:buNone/>
            </a:pPr>
            <a:r>
              <a:rPr lang="en-US" sz="3900" b="1" dirty="0">
                <a:solidFill>
                  <a:srgbClr val="FFFFFF"/>
                </a:solidFill>
                <a:latin typeface="Arial" pitchFamily="34" charset="0"/>
                <a:ea typeface="Arial" pitchFamily="34" charset="-122"/>
                <a:cs typeface="Arial" pitchFamily="34" charset="-120"/>
              </a:rPr>
              <a:t>Earn the right to scale.</a:t>
            </a:r>
            <a:endParaRPr lang="en-US" sz="3900" dirty="0"/>
          </a:p>
        </p:txBody>
      </p:sp>
      <p:sp>
        <p:nvSpPr>
          <p:cNvPr id="9" name="Text 7"/>
          <p:cNvSpPr/>
          <p:nvPr/>
        </p:nvSpPr>
        <p:spPr>
          <a:xfrm>
            <a:off x="579120" y="2506980"/>
            <a:ext cx="5105400" cy="243840"/>
          </a:xfrm>
          <a:prstGeom prst="rect">
            <a:avLst/>
          </a:prstGeom>
          <a:noFill/>
          <a:ln/>
        </p:spPr>
        <p:txBody>
          <a:bodyPr wrap="square" lIns="0" tIns="0" rIns="0" bIns="0" rtlCol="0" anchor="t"/>
          <a:lstStyle/>
          <a:p>
            <a:pPr indent="0" marL="0">
              <a:lnSpc>
                <a:spcPct val="108000"/>
              </a:lnSpc>
              <a:buNone/>
            </a:pPr>
            <a:r>
              <a:rPr lang="en-US" sz="1320" b="1" dirty="0">
                <a:solidFill>
                  <a:srgbClr val="D8EF86"/>
                </a:solidFill>
                <a:latin typeface="Arial" pitchFamily="34" charset="0"/>
                <a:ea typeface="Arial" pitchFamily="34" charset="-122"/>
                <a:cs typeface="Arial" pitchFamily="34" charset="-120"/>
              </a:rPr>
              <a:t>VALIDATE WITH WOMEN ATHLETES</a:t>
            </a:r>
            <a:endParaRPr lang="en-US" sz="1320" dirty="0"/>
          </a:p>
        </p:txBody>
      </p:sp>
      <p:sp>
        <p:nvSpPr>
          <p:cNvPr id="10" name="Text 8"/>
          <p:cNvSpPr/>
          <p:nvPr/>
        </p:nvSpPr>
        <p:spPr>
          <a:xfrm>
            <a:off x="579120" y="2895600"/>
            <a:ext cx="5334000" cy="480060"/>
          </a:xfrm>
          <a:prstGeom prst="rect">
            <a:avLst/>
          </a:prstGeom>
          <a:noFill/>
          <a:ln/>
        </p:spPr>
        <p:txBody>
          <a:bodyPr wrap="square" lIns="0" tIns="0" rIns="0" bIns="0" rtlCol="0" anchor="t"/>
          <a:lstStyle/>
          <a:p>
            <a:pPr indent="0" marL="0">
              <a:lnSpc>
                <a:spcPct val="108000"/>
              </a:lnSpc>
              <a:buNone/>
            </a:pPr>
            <a:r>
              <a:rPr lang="en-US" sz="2700" b="1" dirty="0">
                <a:solidFill>
                  <a:srgbClr val="FFFFFF"/>
                </a:solidFill>
                <a:latin typeface="Arial" pitchFamily="34" charset="0"/>
                <a:ea typeface="Arial" pitchFamily="34" charset="-122"/>
                <a:cs typeface="Arial" pitchFamily="34" charset="-120"/>
              </a:rPr>
              <a:t>20 athletes  ·  4 weeks</a:t>
            </a:r>
            <a:endParaRPr lang="en-US" sz="2700" dirty="0"/>
          </a:p>
        </p:txBody>
      </p:sp>
      <p:sp>
        <p:nvSpPr>
          <p:cNvPr id="11" name="Text 9"/>
          <p:cNvSpPr/>
          <p:nvPr/>
        </p:nvSpPr>
        <p:spPr>
          <a:xfrm>
            <a:off x="579120" y="3467100"/>
            <a:ext cx="5334000" cy="624840"/>
          </a:xfrm>
          <a:prstGeom prst="rect">
            <a:avLst/>
          </a:prstGeom>
          <a:noFill/>
          <a:ln/>
        </p:spPr>
        <p:txBody>
          <a:bodyPr wrap="square" lIns="0" tIns="0" rIns="0" bIns="0" rtlCol="0" anchor="t"/>
          <a:lstStyle/>
          <a:p>
            <a:pPr indent="0" marL="0">
              <a:lnSpc>
                <a:spcPct val="108000"/>
              </a:lnSpc>
              <a:buNone/>
            </a:pPr>
            <a:r>
              <a:rPr lang="en-US" sz="1680" dirty="0">
                <a:solidFill>
                  <a:srgbClr val="F7F8F3"/>
                </a:solidFill>
                <a:latin typeface="Arial" pitchFamily="34" charset="0"/>
                <a:ea typeface="Arial" pitchFamily="34" charset="-122"/>
                <a:cs typeface="Arial" pitchFamily="34" charset="-120"/>
              </a:rPr>
              <a:t>Proposed adult-player pilot; recruitment pending.</a:t>
            </a:r>
            <a:endParaRPr lang="en-US" sz="1680" dirty="0"/>
          </a:p>
          <a:p>
            <a:pPr indent="0" marL="0">
              <a:lnSpc>
                <a:spcPct val="108000"/>
              </a:lnSpc>
              <a:buNone/>
            </a:pPr>
            <a:r>
              <a:rPr lang="en-US" sz="1680" dirty="0">
                <a:solidFill>
                  <a:srgbClr val="F7F8F3"/>
                </a:solidFill>
                <a:latin typeface="Arial" pitchFamily="34" charset="0"/>
                <a:ea typeface="Arial" pitchFamily="34" charset="-122"/>
                <a:cs typeface="Arial" pitchFamily="34" charset="-120"/>
              </a:rPr>
              <a:t>Start directly with players; no club deal required.</a:t>
            </a:r>
            <a:endParaRPr lang="en-US" sz="1680" dirty="0"/>
          </a:p>
        </p:txBody>
      </p:sp>
      <p:sp>
        <p:nvSpPr>
          <p:cNvPr id="12" name="Text 10"/>
          <p:cNvSpPr/>
          <p:nvPr/>
        </p:nvSpPr>
        <p:spPr>
          <a:xfrm>
            <a:off x="579120" y="4282440"/>
            <a:ext cx="5334000" cy="716280"/>
          </a:xfrm>
          <a:prstGeom prst="rect">
            <a:avLst/>
          </a:prstGeom>
          <a:noFill/>
          <a:ln/>
        </p:spPr>
        <p:txBody>
          <a:bodyPr wrap="square" lIns="0" tIns="0" rIns="0" bIns="0" rtlCol="0" anchor="t"/>
          <a:lstStyle/>
          <a:p>
            <a:pPr indent="0" marL="0">
              <a:lnSpc>
                <a:spcPct val="108000"/>
              </a:lnSpc>
              <a:buNone/>
            </a:pPr>
            <a:r>
              <a:rPr lang="en-US" sz="1680" dirty="0">
                <a:solidFill>
                  <a:srgbClr val="F7F8F3"/>
                </a:solidFill>
                <a:latin typeface="Arial" pitchFamily="34" charset="0"/>
                <a:ea typeface="Arial" pitchFamily="34" charset="-122"/>
                <a:cs typeface="Arial" pitchFamily="34" charset="-120"/>
              </a:rPr>
              <a:t>Measure logging time, weekly return, sharing</a:t>
            </a:r>
            <a:endParaRPr lang="en-US" sz="1680" dirty="0"/>
          </a:p>
          <a:p>
            <a:pPr indent="0" marL="0">
              <a:lnSpc>
                <a:spcPct val="108000"/>
              </a:lnSpc>
              <a:buNone/>
            </a:pPr>
            <a:r>
              <a:rPr lang="en-US" sz="1680" dirty="0">
                <a:solidFill>
                  <a:srgbClr val="F7F8F3"/>
                </a:solidFill>
                <a:latin typeface="Arial" pitchFamily="34" charset="0"/>
                <a:ea typeface="Arial" pitchFamily="34" charset="-122"/>
                <a:cs typeface="Arial" pitchFamily="34" charset="-120"/>
              </a:rPr>
              <a:t>comprehension and usefulness of progress records.</a:t>
            </a:r>
            <a:endParaRPr lang="en-US" sz="1680" dirty="0"/>
          </a:p>
        </p:txBody>
      </p:sp>
      <p:sp>
        <p:nvSpPr>
          <p:cNvPr id="13" name="Text 11"/>
          <p:cNvSpPr/>
          <p:nvPr/>
        </p:nvSpPr>
        <p:spPr>
          <a:xfrm>
            <a:off x="579120" y="5356860"/>
            <a:ext cx="5471160" cy="640080"/>
          </a:xfrm>
          <a:prstGeom prst="rect">
            <a:avLst/>
          </a:prstGeom>
          <a:noFill/>
          <a:ln/>
        </p:spPr>
        <p:txBody>
          <a:bodyPr wrap="square" lIns="0" tIns="0" rIns="0" bIns="0" rtlCol="0" anchor="t"/>
          <a:lstStyle/>
          <a:p>
            <a:pPr indent="0" marL="0">
              <a:lnSpc>
                <a:spcPct val="108000"/>
              </a:lnSpc>
              <a:buNone/>
            </a:pPr>
            <a:r>
              <a:rPr lang="en-US" sz="1620" b="1" dirty="0">
                <a:solidFill>
                  <a:srgbClr val="D8EF86"/>
                </a:solidFill>
                <a:latin typeface="Arial" pitchFamily="34" charset="0"/>
                <a:ea typeface="Arial" pitchFamily="34" charset="-122"/>
                <a:cs typeface="Arial" pitchFamily="34" charset="-120"/>
              </a:rPr>
              <a:t>Ask: ICC / Ignyte introductions to women athletes</a:t>
            </a:r>
            <a:endParaRPr lang="en-US" sz="1620" dirty="0"/>
          </a:p>
          <a:p>
            <a:pPr indent="0" marL="0">
              <a:lnSpc>
                <a:spcPct val="108000"/>
              </a:lnSpc>
              <a:buNone/>
            </a:pPr>
            <a:r>
              <a:rPr lang="en-US" sz="1620" b="1" dirty="0">
                <a:solidFill>
                  <a:srgbClr val="D8EF86"/>
                </a:solidFill>
                <a:latin typeface="Arial" pitchFamily="34" charset="0"/>
                <a:ea typeface="Arial" pitchFamily="34" charset="-122"/>
                <a:cs typeface="Arial" pitchFamily="34" charset="-120"/>
              </a:rPr>
              <a:t>for interviews, usability testing and an opt-in pilot.</a:t>
            </a:r>
            <a:endParaRPr lang="en-US" sz="1620" dirty="0"/>
          </a:p>
        </p:txBody>
      </p:sp>
      <p:sp>
        <p:nvSpPr>
          <p:cNvPr id="14" name="Shape 12"/>
          <p:cNvSpPr/>
          <p:nvPr/>
        </p:nvSpPr>
        <p:spPr>
          <a:xfrm>
            <a:off x="6339840" y="2514600"/>
            <a:ext cx="5303520" cy="2499360"/>
          </a:xfrm>
          <a:prstGeom prst="rect">
            <a:avLst/>
          </a:prstGeom>
          <a:solidFill>
            <a:srgbClr val="264D39"/>
          </a:solidFill>
          <a:ln w="12700">
            <a:solidFill>
              <a:srgbClr val="264D39">
                <a:alpha val="0"/>
              </a:srgbClr>
            </a:solidFill>
            <a:prstDash val="solid"/>
          </a:ln>
        </p:spPr>
      </p:sp>
      <p:sp>
        <p:nvSpPr>
          <p:cNvPr id="15" name="Text 13"/>
          <p:cNvSpPr/>
          <p:nvPr/>
        </p:nvSpPr>
        <p:spPr>
          <a:xfrm>
            <a:off x="6568440" y="2705100"/>
            <a:ext cx="4800600" cy="251460"/>
          </a:xfrm>
          <a:prstGeom prst="rect">
            <a:avLst/>
          </a:prstGeom>
          <a:noFill/>
          <a:ln/>
        </p:spPr>
        <p:txBody>
          <a:bodyPr wrap="square" lIns="0" tIns="0" rIns="0" bIns="0" rtlCol="0" anchor="t"/>
          <a:lstStyle/>
          <a:p>
            <a:pPr indent="0" marL="0">
              <a:lnSpc>
                <a:spcPct val="108000"/>
              </a:lnSpc>
              <a:buNone/>
            </a:pPr>
            <a:r>
              <a:rPr lang="en-US" sz="1320" b="1" dirty="0">
                <a:solidFill>
                  <a:srgbClr val="D8EF86"/>
                </a:solidFill>
                <a:latin typeface="Arial" pitchFamily="34" charset="0"/>
                <a:ea typeface="Arial" pitchFamily="34" charset="-122"/>
                <a:cs typeface="Arial" pitchFamily="34" charset="-120"/>
              </a:rPr>
              <a:t>VALUE &amp; VIABILITY</a:t>
            </a:r>
            <a:endParaRPr lang="en-US" sz="1320" dirty="0"/>
          </a:p>
        </p:txBody>
      </p:sp>
      <p:sp>
        <p:nvSpPr>
          <p:cNvPr id="16" name="Text 14"/>
          <p:cNvSpPr/>
          <p:nvPr/>
        </p:nvSpPr>
        <p:spPr>
          <a:xfrm>
            <a:off x="6568440" y="3101340"/>
            <a:ext cx="4808220" cy="632460"/>
          </a:xfrm>
          <a:prstGeom prst="rect">
            <a:avLst/>
          </a:prstGeom>
          <a:noFill/>
          <a:ln/>
        </p:spPr>
        <p:txBody>
          <a:bodyPr wrap="square" lIns="0" tIns="0" rIns="0" bIns="0" rtlCol="0" anchor="t"/>
          <a:lstStyle/>
          <a:p>
            <a:pPr indent="0" marL="0">
              <a:lnSpc>
                <a:spcPct val="108000"/>
              </a:lnSpc>
              <a:buNone/>
            </a:pPr>
            <a:r>
              <a:rPr lang="en-US" sz="1620" dirty="0">
                <a:solidFill>
                  <a:srgbClr val="FFFFFF"/>
                </a:solidFill>
                <a:latin typeface="Arial" pitchFamily="34" charset="0"/>
                <a:ea typeface="Arial" pitchFamily="34" charset="-122"/>
                <a:cs typeface="Arial" pitchFamily="34" charset="-120"/>
              </a:rPr>
              <a:t>Players: progress records. Coaches: chosen context.</a:t>
            </a:r>
            <a:endParaRPr lang="en-US" sz="1620" dirty="0"/>
          </a:p>
          <a:p>
            <a:pPr indent="0" marL="0">
              <a:lnSpc>
                <a:spcPct val="108000"/>
              </a:lnSpc>
              <a:buNone/>
            </a:pPr>
            <a:r>
              <a:rPr lang="en-US" sz="1620" dirty="0">
                <a:solidFill>
                  <a:srgbClr val="FFFFFF"/>
                </a:solidFill>
                <a:latin typeface="Arial" pitchFamily="34" charset="0"/>
                <a:ea typeface="Arial" pitchFamily="34" charset="-122"/>
                <a:cs typeface="Arial" pitchFamily="34" charset="-120"/>
              </a:rPr>
              <a:t>Communities: athlete-approved milestones.</a:t>
            </a:r>
            <a:endParaRPr lang="en-US" sz="1620" dirty="0"/>
          </a:p>
        </p:txBody>
      </p:sp>
      <p:sp>
        <p:nvSpPr>
          <p:cNvPr id="17" name="Text 15"/>
          <p:cNvSpPr/>
          <p:nvPr/>
        </p:nvSpPr>
        <p:spPr>
          <a:xfrm>
            <a:off x="6568440" y="3954780"/>
            <a:ext cx="4838700" cy="861060"/>
          </a:xfrm>
          <a:prstGeom prst="rect">
            <a:avLst/>
          </a:prstGeom>
          <a:noFill/>
          <a:ln/>
        </p:spPr>
        <p:txBody>
          <a:bodyPr wrap="square" lIns="0" tIns="0" rIns="0" bIns="0" rtlCol="0" anchor="t"/>
          <a:lstStyle/>
          <a:p>
            <a:pPr indent="0" marL="0">
              <a:lnSpc>
                <a:spcPct val="108000"/>
              </a:lnSpc>
              <a:buNone/>
            </a:pPr>
            <a:r>
              <a:rPr lang="en-US" sz="1500" dirty="0">
                <a:solidFill>
                  <a:srgbClr val="F7F8F3"/>
                </a:solidFill>
                <a:latin typeface="Arial" pitchFamily="34" charset="0"/>
                <a:ea typeface="Arial" pitchFamily="34" charset="-122"/>
                <a:cs typeface="Arial" pitchFamily="34" charset="-120"/>
              </a:rPr>
              <a:t>Planned model: free core player access; paid club tools.</a:t>
            </a:r>
            <a:endParaRPr lang="en-US" sz="1500" dirty="0"/>
          </a:p>
          <a:p>
            <a:pPr indent="0" marL="0">
              <a:lnSpc>
                <a:spcPct val="108000"/>
              </a:lnSpc>
              <a:buNone/>
            </a:pPr>
            <a:r>
              <a:rPr lang="en-US" sz="1500" dirty="0">
                <a:solidFill>
                  <a:srgbClr val="F7F8F3"/>
                </a:solidFill>
                <a:latin typeface="Arial" pitchFamily="34" charset="0"/>
                <a:ea typeface="Arial" pitchFamily="34" charset="-122"/>
                <a:cs typeface="Arial" pitchFamily="34" charset="-120"/>
              </a:rPr>
              <a:t>Mobile web, no wearable needed; Hindi summary.</a:t>
            </a:r>
            <a:endParaRPr lang="en-US" sz="1500" dirty="0"/>
          </a:p>
          <a:p>
            <a:pPr indent="0" marL="0">
              <a:lnSpc>
                <a:spcPct val="108000"/>
              </a:lnSpc>
              <a:buNone/>
            </a:pPr>
            <a:r>
              <a:rPr lang="en-US" sz="1500" dirty="0">
                <a:solidFill>
                  <a:srgbClr val="F7F8F3"/>
                </a:solidFill>
                <a:latin typeface="Arial" pitchFamily="34" charset="0"/>
                <a:ea typeface="Arial" pitchFamily="34" charset="-122"/>
                <a:cs typeface="Arial" pitchFamily="34" charset="-120"/>
              </a:rPr>
              <a:t>Small text records limit storage and compute needs.</a:t>
            </a:r>
            <a:endParaRPr lang="en-US" sz="1500" dirty="0"/>
          </a:p>
        </p:txBody>
      </p:sp>
      <p:sp>
        <p:nvSpPr>
          <p:cNvPr id="18" name="Text 16"/>
          <p:cNvSpPr/>
          <p:nvPr/>
        </p:nvSpPr>
        <p:spPr>
          <a:xfrm>
            <a:off x="6553200" y="5280660"/>
            <a:ext cx="4953000" cy="243840"/>
          </a:xfrm>
          <a:prstGeom prst="rect">
            <a:avLst/>
          </a:prstGeom>
          <a:noFill/>
          <a:ln/>
        </p:spPr>
        <p:txBody>
          <a:bodyPr wrap="square" lIns="0" tIns="0" rIns="0" bIns="0" rtlCol="0" anchor="t"/>
          <a:lstStyle/>
          <a:p>
            <a:pPr indent="0" marL="0">
              <a:lnSpc>
                <a:spcPct val="108000"/>
              </a:lnSpc>
              <a:buNone/>
            </a:pPr>
            <a:r>
              <a:rPr lang="en-US" sz="1200" b="1" dirty="0">
                <a:solidFill>
                  <a:srgbClr val="D8EF86"/>
                </a:solidFill>
                <a:latin typeface="Arial" pitchFamily="34" charset="0"/>
                <a:ea typeface="Arial" pitchFamily="34" charset="-122"/>
                <a:cs typeface="Arial" pitchFamily="34" charset="-120"/>
              </a:rPr>
              <a:t>EXPLORE THE LIVE PROTOTYPE</a:t>
            </a:r>
            <a:endParaRPr lang="en-US" sz="1200" dirty="0"/>
          </a:p>
        </p:txBody>
      </p:sp>
      <p:sp>
        <p:nvSpPr>
          <p:cNvPr id="19" name="Text 17">
            <a:hlinkClick r:id="rId1" tooltip=""/>
          </p:cNvPr>
          <p:cNvSpPr/>
          <p:nvPr/>
        </p:nvSpPr>
        <p:spPr>
          <a:xfrm>
            <a:off x="6553200" y="5631180"/>
            <a:ext cx="4953000" cy="373380"/>
          </a:xfrm>
          <a:prstGeom prst="rect">
            <a:avLst/>
          </a:prstGeom>
          <a:noFill/>
          <a:ln/>
        </p:spPr>
        <p:txBody>
          <a:bodyPr wrap="square" lIns="0" tIns="0" rIns="0" bIns="0" rtlCol="0" anchor="t"/>
          <a:lstStyle/>
          <a:p>
            <a:pPr indent="0" marL="0">
              <a:lnSpc>
                <a:spcPct val="108000"/>
              </a:lnSpc>
              <a:buNone/>
            </a:pPr>
            <a:r>
              <a:rPr lang="en-US" sz="21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ignyte-icc.vercel.app ↗</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PitchUp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PitchUp | Women-first cricket development</dc:title>
  <dc:subject>ICC × Ignyte Hackathon — PitchUp</dc:subject>
  <dc:creator>Vijaya Rupesh N</dc:creator>
  <cp:lastModifiedBy>Vijaya Rupesh N</cp:lastModifiedBy>
  <cp:revision>1</cp:revision>
  <dcterms:created xsi:type="dcterms:W3CDTF">2026-10-04T14:23:02Z</dcterms:created>
  <dcterms:modified xsi:type="dcterms:W3CDTF">2026-10-04T14:23:02Z</dcterms:modified>
</cp:coreProperties>
</file>